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463040"/>
            <a:ext cx="5029200" cy="5029200"/>
          </a:xfrm>
          <a:prstGeom prst="ellipse">
            <a:avLst/>
          </a:prstGeom>
          <a:solidFill>
            <a:srgbClr val="081A33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274320"/>
            <a:ext cx="2926080" cy="292608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685800"/>
            <a:ext cx="960120" cy="960120"/>
          </a:xfrm>
          <a:prstGeom prst="ellipse">
            <a:avLst/>
          </a:prstGeom>
          <a:solidFill>
            <a:srgbClr val="0F6E6E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68580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🎣</a:t>
            </a:r>
            <a:endParaRPr lang="en-US" sz="294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DIPLOMATURA EN CIBERSEGURIDAD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8892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 4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52044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3FA9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Amenazas comunes y phishing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1605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arte del engaño, el malware que llega después y cómo se ve todo eso en la red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4892040"/>
            <a:ext cx="292608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5074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4 — Del anzuelo al veneno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de la clase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21945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856232"/>
            <a:ext cx="822960" cy="822960"/>
          </a:xfrm>
          <a:prstGeom prst="ellipse">
            <a:avLst/>
          </a:prstGeom>
          <a:solidFill>
            <a:srgbClr val="0F6E6E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41248" y="185623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17373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arte del engaño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874520" y="2212848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Anatomía del phishing, canales y señales de alerta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55448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10528" y="1856232"/>
            <a:ext cx="822960" cy="822960"/>
          </a:xfrm>
          <a:prstGeom prst="ellipse">
            <a:avLst/>
          </a:prstGeom>
          <a:solidFill>
            <a:srgbClr val="0F6E6E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510528" y="185623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543800" y="17373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psicología del clic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543800" y="2212848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caemos: autoridad, urgencia, miedo, curiosidad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10896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" y="3410712"/>
            <a:ext cx="822960" cy="822960"/>
          </a:xfrm>
          <a:prstGeom prst="ellipse">
            <a:avLst/>
          </a:prstGeom>
          <a:solidFill>
            <a:srgbClr val="0F6E6E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41248" y="341071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1874520" y="32918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viaja un correo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874520" y="3767328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SMTP, cabeceras, SPF, DKIM y DMARC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09360" y="310896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10528" y="3410712"/>
            <a:ext cx="822960" cy="822960"/>
          </a:xfrm>
          <a:prstGeom prst="ellipse">
            <a:avLst/>
          </a:prstGeom>
          <a:solidFill>
            <a:srgbClr val="0F6E6E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510528" y="341071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7543800" y="32918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malicioso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543800" y="3767328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Ransomware, Spyware y RATs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466344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41248" y="4965192"/>
            <a:ext cx="822960" cy="822960"/>
          </a:xfrm>
          <a:prstGeom prst="ellipse">
            <a:avLst/>
          </a:prstGeom>
          <a:solidFill>
            <a:srgbClr val="0F6E6E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841248" y="496519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600" dirty="0"/>
          </a:p>
        </p:txBody>
      </p:sp>
      <p:sp>
        <p:nvSpPr>
          <p:cNvPr id="27" name="Text 25"/>
          <p:cNvSpPr txBox="1"/>
          <p:nvPr/>
        </p:nvSpPr>
        <p:spPr>
          <a:xfrm>
            <a:off x="1874520" y="48463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Malware en la red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874520" y="5321808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C2, beaconing y herramientas de análisis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309360" y="466344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510528" y="4965192"/>
            <a:ext cx="822960" cy="822960"/>
          </a:xfrm>
          <a:prstGeom prst="ellipse">
            <a:avLst/>
          </a:prstGeom>
          <a:solidFill>
            <a:srgbClr val="0F6E6E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6510528" y="496519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600" dirty="0"/>
          </a:p>
        </p:txBody>
      </p:sp>
      <p:sp>
        <p:nvSpPr>
          <p:cNvPr id="32" name="Text 30"/>
          <p:cNvSpPr txBox="1"/>
          <p:nvPr/>
        </p:nvSpPr>
        <p:spPr>
          <a:xfrm>
            <a:off x="7543800" y="48463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Defensa en capas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7543800" y="5321808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MFA, gestor de contraseñas, backups y hábito de duda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DIPLOMATURA EN CIBERSEGURIDAD · SEMANA 4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correo de tu banco. Un pequeño vuelco en el corazón.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21945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63040"/>
            <a:ext cx="10881360" cy="2194560"/>
          </a:xfrm>
          <a:prstGeom prst="roundRect">
            <a:avLst>
              <a:gd name="adj" fmla="val 3333"/>
            </a:avLst>
          </a:prstGeom>
          <a:solidFill>
            <a:srgbClr val="1E2A38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554480"/>
            <a:ext cx="10332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A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Asunto: </a:t>
            </a:r>
            <a:pPr indent="0" marL="0">
              <a:buNone/>
            </a:pPr>
            <a:r>
              <a:rPr lang="en-US" sz="1600" b="1" dirty="0">
                <a:solidFill>
                  <a:srgbClr val="E4C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Inicio de sesión inusual detectado
</a:t>
            </a:r>
            <a:pPr indent="0" marL="0">
              <a:buNone/>
            </a:pPr>
            <a:r>
              <a:rPr lang="en-US" sz="16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"Detectamos un inicio de sesión inusual desde otro país. Por tu seguridad, hemos bloqueado temporalmente tu cuenta. Haz clic aquí para verificar tu identidad y reactivarla ahora."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886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urgente. Viene de una fuente de autoridad. Apela a tu miedo de perder el dinero. Y el diseño es idéntico al de siempre.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4846320"/>
            <a:ext cx="10881360" cy="1097280"/>
          </a:xfrm>
          <a:prstGeom prst="roundRect">
            <a:avLst>
              <a:gd name="adj" fmla="val 6667"/>
            </a:avLst>
          </a:prstGeom>
          <a:solidFill>
            <a:srgbClr val="081A33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14400" y="489204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ciberseguridad no es solo firewalls y código complejo: es entender cómo se manipula la psicología humana para abrir puertas que deberían estar cerradas.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DIPLOMATURA EN CIBERSEGURIDAD · SEMANA 4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383280"/>
            <a:ext cx="5943600" cy="5943600"/>
          </a:xfrm>
          <a:prstGeom prst="ellipse">
            <a:avLst/>
          </a:prstGeom>
          <a:solidFill>
            <a:srgbClr val="081A3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82880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0" b="1" dirty="0">
                <a:solidFill>
                  <a:srgbClr val="08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0" dirty="0"/>
          </a:p>
        </p:txBody>
      </p:sp>
      <p:sp>
        <p:nvSpPr>
          <p:cNvPr id="4" name="Shape 2"/>
          <p:cNvSpPr/>
          <p:nvPr/>
        </p:nvSpPr>
        <p:spPr>
          <a:xfrm>
            <a:off x="4480560" y="2788920"/>
            <a:ext cx="0" cy="1280160"/>
          </a:xfrm>
          <a:prstGeom prst="line">
            <a:avLst/>
          </a:prstGeom>
          <a:noFill/>
          <a:ln w="381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800600" y="265176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arte del engaño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800600" y="3657600"/>
            <a:ext cx="6766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3FA9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Anatomía del phishing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el phishing?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21945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3505200" cy="3017520"/>
          </a:xfrm>
          <a:prstGeom prst="roundRect">
            <a:avLst>
              <a:gd name="adj" fmla="val 2424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26920" y="1783080"/>
            <a:ext cx="731520" cy="731520"/>
          </a:xfrm>
          <a:prstGeom prst="ellipse">
            <a:avLst/>
          </a:prstGeom>
          <a:solidFill>
            <a:srgbClr val="0F6E6E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202692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🎣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606040"/>
            <a:ext cx="3285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Phishing ≈ fishing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063240"/>
            <a:ext cx="32308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atacante lanza un "anzuelo" (correo, SMS, llamada) esperando que alguien "muerda" el cebo.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28160" y="1554480"/>
            <a:ext cx="3505200" cy="3017520"/>
          </a:xfrm>
          <a:prstGeom prst="roundRect">
            <a:avLst>
              <a:gd name="adj" fmla="val 2424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715000" y="1783080"/>
            <a:ext cx="731520" cy="731520"/>
          </a:xfrm>
          <a:prstGeom prst="ellipse">
            <a:avLst/>
          </a:prstGeom>
          <a:solidFill>
            <a:srgbClr val="0F6E6E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71500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437888" y="2606040"/>
            <a:ext cx="3285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Ingeniería Social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465320" y="3063240"/>
            <a:ext cx="32308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diferencia de un virus que explota un error de software, aquí se explota a la persona para que entregue datos voluntariamente.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16240" y="1554480"/>
            <a:ext cx="3505200" cy="3017520"/>
          </a:xfrm>
          <a:prstGeom prst="roundRect">
            <a:avLst>
              <a:gd name="adj" fmla="val 2424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403080" y="1783080"/>
            <a:ext cx="731520" cy="731520"/>
          </a:xfrm>
          <a:prstGeom prst="ellipse">
            <a:avLst/>
          </a:prstGeom>
          <a:solidFill>
            <a:srgbClr val="0F6E6E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40308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125968" y="2606040"/>
            <a:ext cx="3285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importa?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153400" y="3063240"/>
            <a:ext cx="32308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mucho más fácil engañar a un humano para que entregue su contraseña que adivinarla o hackear los servidores de Google o Microsoft.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84632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081A33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14400" y="489204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phishing es la herramienta más común de la Ingeniería Social vista en la Semana 1.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DIPLOMATURA EN CIBERSEGURIDAD · SEMANA 4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Anatomía de un ataque: el ciclo del pescador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21945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645920"/>
            <a:ext cx="2044598" cy="2834640"/>
          </a:xfrm>
          <a:prstGeom prst="roundRect">
            <a:avLst>
              <a:gd name="adj" fmla="val 3578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42339" y="1828800"/>
            <a:ext cx="640080" cy="64008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342339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5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560320"/>
            <a:ext cx="189829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Reconocimiento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926080"/>
            <a:ext cx="1861718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Elige a quién atacar: masivo, o dirigido (ej. buscar en LinkedIn al área de contabilidad).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49270" y="1645920"/>
            <a:ext cx="2044598" cy="2834640"/>
          </a:xfrm>
          <a:prstGeom prst="roundRect">
            <a:avLst>
              <a:gd name="adj" fmla="val 3578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51530" y="1828800"/>
            <a:ext cx="640080" cy="64008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55153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5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🎭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922422" y="2560320"/>
            <a:ext cx="189829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Pretexto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2940710" y="2926080"/>
            <a:ext cx="1861718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Diseña la mentira: paquete no entregado, premio, problema de seguridad en tu cuenta.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58461" y="1645920"/>
            <a:ext cx="2044598" cy="2834640"/>
          </a:xfrm>
          <a:prstGeom prst="roundRect">
            <a:avLst>
              <a:gd name="adj" fmla="val 3578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60720" y="1828800"/>
            <a:ext cx="640080" cy="64008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576072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5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📨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131613" y="2560320"/>
            <a:ext cx="189829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Entrega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149901" y="2926080"/>
            <a:ext cx="1861718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Envía el mensaje por un canal: correo, SMS, llamada, código QR.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267651" y="1645920"/>
            <a:ext cx="2044598" cy="2834640"/>
          </a:xfrm>
          <a:prstGeom prst="roundRect">
            <a:avLst>
              <a:gd name="adj" fmla="val 3578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69910" y="1828800"/>
            <a:ext cx="640080" cy="64008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96991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5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🪝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340803" y="2560320"/>
            <a:ext cx="189829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Gancho y acción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7359091" y="2926080"/>
            <a:ext cx="1861718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Emoción (miedo, urgencia, curiosidad) → clic, descarga o respuesta con datos.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476842" y="1645920"/>
            <a:ext cx="2044598" cy="2834640"/>
          </a:xfrm>
          <a:prstGeom prst="roundRect">
            <a:avLst>
              <a:gd name="adj" fmla="val 3578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179101" y="1828800"/>
            <a:ext cx="640080" cy="64008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10179101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5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💸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9549994" y="2560320"/>
            <a:ext cx="189829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 Robo y explotación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9568282" y="2926080"/>
            <a:ext cx="1861718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 de credenciales: vaciar cuentas, vender la base, atacar a tus contactos.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0080" y="484632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081A33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914400" y="489204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ataque de phishing no ocurre por azar: sigue un ciclo estructurado. Cortar cualquier eslabón lo frena.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DIPLOMATURA EN CIBERSEGURIDAD · SEMANA 4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Canales de entrega: el correo es el rey, pero no el único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21945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2583180" cy="2926080"/>
          </a:xfrm>
          <a:prstGeom prst="roundRect">
            <a:avLst>
              <a:gd name="adj" fmla="val 2832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65910" y="1783080"/>
            <a:ext cx="731520" cy="731520"/>
          </a:xfrm>
          <a:prstGeom prst="ellipse">
            <a:avLst/>
          </a:prstGeom>
          <a:solidFill>
            <a:srgbClr val="0F6E6E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56591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606040"/>
            <a:ext cx="23637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Phishing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063240"/>
            <a:ext cx="23088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Correo electrónico masivo o dirigido. Spear phishing: incluye tu nombre y contexto real.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06140" y="1554480"/>
            <a:ext cx="2583180" cy="2926080"/>
          </a:xfrm>
          <a:prstGeom prst="roundRect">
            <a:avLst>
              <a:gd name="adj" fmla="val 2832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31970" y="1783080"/>
            <a:ext cx="731520" cy="731520"/>
          </a:xfrm>
          <a:prstGeom prst="ellipse">
            <a:avLst/>
          </a:prstGeom>
          <a:solidFill>
            <a:srgbClr val="0F6E6E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33197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515868" y="2606040"/>
            <a:ext cx="23637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Smishing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543300" y="3063240"/>
            <a:ext cx="23088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Phishing por SMS (y apps de mensajería): "Tu paquete no pudo entregarse".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1554480"/>
            <a:ext cx="2583180" cy="2926080"/>
          </a:xfrm>
          <a:prstGeom prst="roundRect">
            <a:avLst>
              <a:gd name="adj" fmla="val 2832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098030" y="1783080"/>
            <a:ext cx="731520" cy="731520"/>
          </a:xfrm>
          <a:prstGeom prst="ellipse">
            <a:avLst/>
          </a:prstGeom>
          <a:solidFill>
            <a:srgbClr val="0F6E6E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09803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📞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281928" y="2606040"/>
            <a:ext cx="23637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Vishing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3063240"/>
            <a:ext cx="23088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Phishing por voz (voice). Alguien llama diciendo ser soporte técnico o tu banco.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938260" y="1554480"/>
            <a:ext cx="2583180" cy="2926080"/>
          </a:xfrm>
          <a:prstGeom prst="roundRect">
            <a:avLst>
              <a:gd name="adj" fmla="val 2832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864090" y="1783080"/>
            <a:ext cx="731520" cy="731520"/>
          </a:xfrm>
          <a:prstGeom prst="ellipse">
            <a:avLst/>
          </a:prstGeom>
          <a:solidFill>
            <a:srgbClr val="0F6E6E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86409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📷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9047988" y="2606040"/>
            <a:ext cx="23637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Quishing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075420" y="3063240"/>
            <a:ext cx="23088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Códigos QR maliciosos: menús de restaurante, parquímetros, carteles.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475488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081A33"/>
          </a:solidFill>
          <a:ln w="12700">
            <a:solidFill>
              <a:srgbClr val="0F6E6E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914400" y="480060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Variantes dirigidas: Spear phishing (a una persona), Whaling (a directivos) y BEC / fraude del CEO (pedido urgente de transferencia).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DIPLOMATURA EN CIBERSEGURIDAD · SEMANA 4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banderas rojas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21945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1732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081A33"/>
          </a:solidFill>
          <a:ln w="12700">
            <a:solidFill>
              <a:srgbClr val="C0524B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485900"/>
            <a:ext cx="685800" cy="685800"/>
          </a:xfrm>
          <a:prstGeom prst="ellipse">
            <a:avLst/>
          </a:prstGeom>
          <a:solidFill>
            <a:srgbClr val="C0524B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14859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141732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Urgencia o amenaza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41732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correo real rara vez exige actuar "en 30 minutos". El pánico apaga el pensamiento crítico.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37744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081A33"/>
          </a:solidFill>
          <a:ln w="12700">
            <a:solidFill>
              <a:srgbClr val="C0524B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2446020"/>
            <a:ext cx="685800" cy="685800"/>
          </a:xfrm>
          <a:prstGeom prst="ellipse">
            <a:avLst/>
          </a:prstGeom>
          <a:solidFill>
            <a:srgbClr val="C0524B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914400" y="24460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✉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828800" y="237744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Remitente sospechoso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237744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Mirá la dirección real, no el nombre visible. Los bancos escriben desde su dominio, nunca desde Gmail.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33756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081A33"/>
          </a:solidFill>
          <a:ln w="12700">
            <a:solidFill>
              <a:srgbClr val="C0524B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3406140"/>
            <a:ext cx="685800" cy="685800"/>
          </a:xfrm>
          <a:prstGeom prst="ellipse">
            <a:avLst/>
          </a:prstGeom>
          <a:solidFill>
            <a:srgbClr val="C0524B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14400" y="34061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828800" y="33375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Enlaces engañosos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937760" y="333756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Pasá el cursor sin hacer clic y leé la URL real en la barra inferior.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29768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081A33"/>
          </a:solidFill>
          <a:ln w="12700">
            <a:solidFill>
              <a:srgbClr val="C0524B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4366260"/>
            <a:ext cx="685800" cy="685800"/>
          </a:xfrm>
          <a:prstGeom prst="ellipse">
            <a:avLst/>
          </a:prstGeom>
          <a:solidFill>
            <a:srgbClr val="C0524B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14400" y="43662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828800" y="42976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Saludo genérico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4937760" y="429768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"Estimado cliente". Ojo: el spear phishing SÍ puede traer tu nombre real.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525780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081A33"/>
          </a:solidFill>
          <a:ln w="12700">
            <a:solidFill>
              <a:srgbClr val="C0524B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14400" y="5326380"/>
            <a:ext cx="685800" cy="685800"/>
          </a:xfrm>
          <a:prstGeom prst="ellipse">
            <a:avLst/>
          </a:prstGeom>
          <a:solidFill>
            <a:srgbClr val="C0524B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914400" y="53263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✍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1828800" y="52578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Errores de redacción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4937760" y="525780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Traducciones automáticas y faltas. Cada vez menos frecuentes: no confiar solo en esto.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DIPLOMATURA EN CIBERSEGURIDAD · SEMANA 4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 visible vs. dirección real, y la URL verdadera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21945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63040"/>
            <a:ext cx="10881360" cy="2468880"/>
          </a:xfrm>
          <a:prstGeom prst="roundRect">
            <a:avLst>
              <a:gd name="adj" fmla="val 2963"/>
            </a:avLst>
          </a:prstGeom>
          <a:solidFill>
            <a:srgbClr val="1E2A38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554480"/>
            <a:ext cx="10332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De: Soporte Técnico Microsoft
</a:t>
            </a:r>
            <a:pPr indent="0" marL="0">
              <a:buNone/>
            </a:pPr>
            <a:r>
              <a:rPr lang="en-US" sz="1400" dirty="0">
                <a:solidFill>
                  <a:srgbClr val="C05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&lt;microsoft-verificacion@gmail.com&gt;   ← el nombre engaña
</a:t>
            </a:r>
            <a:pPr indent="0" marL="0">
              <a:buNone/>
            </a:pPr>
            <a:r>
              <a:rPr lang="en-US" sz="14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Legítimo : https://www.tu-banco.com/login
</a:t>
            </a:r>
            <a:pPr indent="0" marL="0">
              <a:buNone/>
            </a:pPr>
            <a:r>
              <a:rPr lang="en-US" sz="1400" dirty="0">
                <a:solidFill>
                  <a:srgbClr val="C05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Phishing : http://verificacion-tu-banco.net/acceso
</a:t>
            </a:r>
            <a:pPr indent="0" marL="0">
              <a:buNone/>
            </a:pPr>
            <a:r>
              <a:rPr lang="en-US" sz="1400" dirty="0">
                <a:solidFill>
                  <a:srgbClr val="C05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Phishing : http://tu-banco.com.servidor-malicioso.ru
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4206240"/>
            <a:ext cx="10881360" cy="1097280"/>
          </a:xfrm>
          <a:prstGeom prst="roundRect">
            <a:avLst>
              <a:gd name="adj" fmla="val 6667"/>
            </a:avLst>
          </a:prstGeom>
          <a:solidFill>
            <a:srgbClr val="081A33"/>
          </a:solidFill>
          <a:ln w="12700">
            <a:solidFill>
              <a:srgbClr val="0F6E6E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14400" y="425196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 de oro: lo que importa es el dominio real, que se lee de derecha a izquierda antes de la primera barra. En tu-banco.com.servidor-malicioso.ru el dueño es servidor-malicioso.ru.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DIPLOMATURA EN CIBERSEGURIDAD · SEMANA 4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psicología: no es un fallo de inteligencia, es de percepción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21945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2583180" cy="2743200"/>
          </a:xfrm>
          <a:prstGeom prst="roundRect">
            <a:avLst>
              <a:gd name="adj" fmla="val 2832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65910" y="1783080"/>
            <a:ext cx="731520" cy="731520"/>
          </a:xfrm>
          <a:prstGeom prst="ellipse">
            <a:avLst/>
          </a:prstGeom>
          <a:solidFill>
            <a:srgbClr val="0F6E6E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56591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👔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606040"/>
            <a:ext cx="23637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Autoridad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063240"/>
            <a:ext cx="23088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correo "del CEO" o del Gobierno: tendemos a obedecer sin cuestionar.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06140" y="1554480"/>
            <a:ext cx="2583180" cy="2743200"/>
          </a:xfrm>
          <a:prstGeom prst="roundRect">
            <a:avLst>
              <a:gd name="adj" fmla="val 2832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31970" y="1783080"/>
            <a:ext cx="731520" cy="731520"/>
          </a:xfrm>
          <a:prstGeom prst="ellipse">
            <a:avLst/>
          </a:prstGeom>
          <a:solidFill>
            <a:srgbClr val="0F6E6E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33197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👀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515868" y="2606040"/>
            <a:ext cx="23637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Curiosidad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543300" y="3063240"/>
            <a:ext cx="23088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"Mirá las fotos de la fiesta" o "se compartió un documento contigo".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1554480"/>
            <a:ext cx="2583180" cy="2743200"/>
          </a:xfrm>
          <a:prstGeom prst="roundRect">
            <a:avLst>
              <a:gd name="adj" fmla="val 2832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098030" y="1783080"/>
            <a:ext cx="731520" cy="731520"/>
          </a:xfrm>
          <a:prstGeom prst="ellipse">
            <a:avLst/>
          </a:prstGeom>
          <a:solidFill>
            <a:srgbClr val="0F6E6E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09803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😨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281928" y="2606040"/>
            <a:ext cx="23637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Miedo a la pérdida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3063240"/>
            <a:ext cx="23088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"Tu cuenta será suspendida".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938260" y="1554480"/>
            <a:ext cx="2583180" cy="2743200"/>
          </a:xfrm>
          <a:prstGeom prst="roundRect">
            <a:avLst>
              <a:gd name="adj" fmla="val 2832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864090" y="1783080"/>
            <a:ext cx="731520" cy="731520"/>
          </a:xfrm>
          <a:prstGeom prst="ellipse">
            <a:avLst/>
          </a:prstGeom>
          <a:solidFill>
            <a:srgbClr val="0F6E6E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86409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🎁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9047988" y="2606040"/>
            <a:ext cx="23637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Gratificación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075420" y="3063240"/>
            <a:ext cx="23088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"Ganaste un bono de Amazon de $500".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457200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081A33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914400" y="461772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atacantes usan "gatillos mentales". Reconocer la sensación de presión es la mitad de la defensa.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DIPLOMATURA EN CIBERSEGURIDAD · SEMANA 4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 reales: la ingeniería social como hilo conductor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21945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1732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081A33"/>
          </a:solidFill>
          <a:ln w="12700">
            <a:solidFill>
              <a:srgbClr val="C0524B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600200"/>
            <a:ext cx="685800" cy="685800"/>
          </a:xfrm>
          <a:prstGeom prst="ellipse">
            <a:avLst/>
          </a:prstGeom>
          <a:solidFill>
            <a:srgbClr val="C0524B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16002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🦠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1417320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Pandemia (2020)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417320"/>
            <a:ext cx="6400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ataques de phishing crecieron un 600%. Correos "de la OMS" con mapas de infección que, al descargarse, infectaban equipos. Usaron el miedo colectivo.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081A33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2788920"/>
            <a:ext cx="685800" cy="68580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914400" y="27889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🚗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828800" y="2606040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Uber (2022)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2606040"/>
            <a:ext cx="6400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supercomputadoras: convencieron a un empleado de que eran soporte técnico, con insistencia y manipulación. Ingeniería social pura.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79476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081A33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3977640"/>
            <a:ext cx="685800" cy="68580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14400" y="39776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🐦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828800" y="3794760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Twitter (2020)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937760" y="3794760"/>
            <a:ext cx="6400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Atacantes engañaron por teléfono a empleados para acceder a herramientas internas: vishing contra personas, no contra servidores.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98348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081A33"/>
          </a:solidFill>
          <a:ln w="12700">
            <a:solidFill>
              <a:srgbClr val="0F6E6E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5166360"/>
            <a:ext cx="685800" cy="685800"/>
          </a:xfrm>
          <a:prstGeom prst="ellipse">
            <a:avLst/>
          </a:prstGeom>
          <a:solidFill>
            <a:srgbClr val="0F6E6E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14400" y="51663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💼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828800" y="4983480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Fraude del CEO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4937760" y="4983480"/>
            <a:ext cx="6400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correo del "jefe" pide una transferencia urgente. Ver el nombre de la autoridad activa el pánico y se deja de lado la lógica.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DIPLOMATURA EN CIBERSEGURIDAD · SEMANA 4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383280"/>
            <a:ext cx="5943600" cy="5943600"/>
          </a:xfrm>
          <a:prstGeom prst="ellipse">
            <a:avLst/>
          </a:prstGeom>
          <a:solidFill>
            <a:srgbClr val="081A3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82880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0" b="1" dirty="0">
                <a:solidFill>
                  <a:srgbClr val="08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0" dirty="0"/>
          </a:p>
        </p:txBody>
      </p:sp>
      <p:sp>
        <p:nvSpPr>
          <p:cNvPr id="4" name="Shape 2"/>
          <p:cNvSpPr/>
          <p:nvPr/>
        </p:nvSpPr>
        <p:spPr>
          <a:xfrm>
            <a:off x="4480560" y="2788920"/>
            <a:ext cx="0" cy="1280160"/>
          </a:xfrm>
          <a:prstGeom prst="line">
            <a:avLst/>
          </a:prstGeom>
          <a:noFill/>
          <a:ln w="381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800600" y="265176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viaja un correo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800600" y="3657600"/>
            <a:ext cx="6766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3FA9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extra de redes: por qué el remitente se puede falsificar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viaje de un correo electrónico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21945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645920"/>
            <a:ext cx="2044598" cy="2468880"/>
          </a:xfrm>
          <a:prstGeom prst="roundRect">
            <a:avLst>
              <a:gd name="adj" fmla="val 3578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42339" y="1828800"/>
            <a:ext cx="640080" cy="640080"/>
          </a:xfrm>
          <a:prstGeom prst="ellipse">
            <a:avLst/>
          </a:prstGeom>
          <a:solidFill>
            <a:srgbClr val="0F6E6E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342339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5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560320"/>
            <a:ext cx="189829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Tu cliente (MUA)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926080"/>
            <a:ext cx="186171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Escribís y enviás desde Outlook, Gmail, Thunderbird.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49270" y="1645920"/>
            <a:ext cx="2044598" cy="2468880"/>
          </a:xfrm>
          <a:prstGeom prst="roundRect">
            <a:avLst>
              <a:gd name="adj" fmla="val 3578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51530" y="1828800"/>
            <a:ext cx="640080" cy="640080"/>
          </a:xfrm>
          <a:prstGeom prst="ellipse">
            <a:avLst/>
          </a:prstGeom>
          <a:solidFill>
            <a:srgbClr val="0F6E6E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55153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5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📤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922422" y="2560320"/>
            <a:ext cx="189829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Servidor saliente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2940710" y="2926080"/>
            <a:ext cx="186171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proveedor lo recibe por SMTP (puertos 587/465).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58461" y="1645920"/>
            <a:ext cx="2044598" cy="2468880"/>
          </a:xfrm>
          <a:prstGeom prst="roundRect">
            <a:avLst>
              <a:gd name="adj" fmla="val 3578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60720" y="1828800"/>
            <a:ext cx="640080" cy="64008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576072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5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🔎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131613" y="2560320"/>
            <a:ext cx="189829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Consulta DNS (MX)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149901" y="2926080"/>
            <a:ext cx="186171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 qué servidor recibe el correo del dominio destino.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267651" y="1645920"/>
            <a:ext cx="2044598" cy="2468880"/>
          </a:xfrm>
          <a:prstGeom prst="roundRect">
            <a:avLst>
              <a:gd name="adj" fmla="val 3578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69910" y="1828800"/>
            <a:ext cx="640080" cy="64008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96991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5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📥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340803" y="2560320"/>
            <a:ext cx="189829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Servidor entrante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7359091" y="2926080"/>
            <a:ext cx="186171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 filtros (spam, SPF, DKIM, DMARC) y entrega.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76842" y="1645920"/>
            <a:ext cx="2044598" cy="2468880"/>
          </a:xfrm>
          <a:prstGeom prst="roundRect">
            <a:avLst>
              <a:gd name="adj" fmla="val 3578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179101" y="1828800"/>
            <a:ext cx="640080" cy="640080"/>
          </a:xfrm>
          <a:prstGeom prst="ellipse">
            <a:avLst/>
          </a:prstGeom>
          <a:solidFill>
            <a:srgbClr val="0F6E6E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10179101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5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📬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9549994" y="2560320"/>
            <a:ext cx="189829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Buzón del usuario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9568282" y="2926080"/>
            <a:ext cx="186171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lee por IMAP/POP3 o webmail.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448056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081A33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914400" y="452628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SMTP nació sin autenticación del remitente: el campo "De:" es solo texto. Por eso se inventaron SPF, DKIM y DMARC.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DIPLOMATURA EN CIBERSEGURIDAD · SEMANA 4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SPF, DKIM y DMARC: el trío que valida al remitente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21945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3505200" cy="3017520"/>
          </a:xfrm>
          <a:prstGeom prst="roundRect">
            <a:avLst>
              <a:gd name="adj" fmla="val 2424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26920" y="1783080"/>
            <a:ext cx="731520" cy="731520"/>
          </a:xfrm>
          <a:prstGeom prst="ellipse">
            <a:avLst/>
          </a:prstGeom>
          <a:solidFill>
            <a:srgbClr val="0F6E6E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202692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606040"/>
            <a:ext cx="3285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SPF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063240"/>
            <a:ext cx="32308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DNS (TXT) que lista qué servidores pueden enviar correo en nombre del dominio. Responde: ¿este servidor está autorizado?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28160" y="1554480"/>
            <a:ext cx="3505200" cy="3017520"/>
          </a:xfrm>
          <a:prstGeom prst="roundRect">
            <a:avLst>
              <a:gd name="adj" fmla="val 2424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715000" y="1783080"/>
            <a:ext cx="731520" cy="731520"/>
          </a:xfrm>
          <a:prstGeom prst="ellipse">
            <a:avLst/>
          </a:prstGeom>
          <a:solidFill>
            <a:srgbClr val="0F6E6E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71500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✍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437888" y="2606040"/>
            <a:ext cx="3285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DKIM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465320" y="3063240"/>
            <a:ext cx="32308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servidor firma el mensaje con una clave privada; el receptor verifica con la clave pública en DNS. Responde: ¿el mensaje fue alterado?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16240" y="1554480"/>
            <a:ext cx="3505200" cy="3017520"/>
          </a:xfrm>
          <a:prstGeom prst="roundRect">
            <a:avLst>
              <a:gd name="adj" fmla="val 2424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403080" y="1783080"/>
            <a:ext cx="731520" cy="731520"/>
          </a:xfrm>
          <a:prstGeom prst="ellipse">
            <a:avLst/>
          </a:prstGeom>
          <a:solidFill>
            <a:srgbClr val="0F6E6E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40308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🛂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125968" y="2606040"/>
            <a:ext cx="3285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DMARC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153400" y="3063240"/>
            <a:ext cx="32308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Política del dominio: qué hacer si SPF/DKIM fallan (none, quarantine, reject) y a quién reportar. Exige alineación con el "De:" visible.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75488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1E2A38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14400" y="484632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dig +short TXT _dmarc.google.com
</a:t>
            </a:r>
            <a:pPr indent="0" marL="0">
              <a:buNone/>
            </a:pPr>
            <a:r>
              <a:rPr lang="en-US" sz="1200" dirty="0">
                <a:solidFill>
                  <a:srgbClr val="E4C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"v=DMARC1; p=reject; rua=mailto:mailauth-reports@google.com"
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DIPLOMATURA EN CIBERSEGURIDAD · SEMANA 4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Leer un correo "por dentro": las cabeceras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21945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63040"/>
            <a:ext cx="10881360" cy="2560320"/>
          </a:xfrm>
          <a:prstGeom prst="roundRect">
            <a:avLst>
              <a:gd name="adj" fmla="val 2857"/>
            </a:avLst>
          </a:prstGeom>
          <a:solidFill>
            <a:srgbClr val="1E2A38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554480"/>
            <a:ext cx="10332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From: "Soporte TiendaNova" &lt;soporte@tienda-n0va-ayuda.com&gt;
</a:t>
            </a:r>
            <a:pPr indent="0" marL="0">
              <a:buNone/>
            </a:pPr>
            <a:r>
              <a:rPr lang="en-US" sz="1300" dirty="0">
                <a:solidFill>
                  <a:srgbClr val="C05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Reply-To: cobros@mail-pagos.ru                ← no coincide
</a:t>
            </a:r>
            <a:pPr indent="0" marL="0">
              <a:buNone/>
            </a:pPr>
            <a:r>
              <a:rPr lang="en-US" sz="1300" dirty="0">
                <a:solidFill>
                  <a:srgbClr val="C05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Return-Path: &lt;bounce@mail-pagos.ru&gt;           ← no coincide
</a:t>
            </a:r>
            <a:pPr indent="0" marL="0">
              <a:buNone/>
            </a:pPr>
            <a:r>
              <a:rPr lang="en-US" sz="1300" dirty="0">
                <a:solidFill>
                  <a:srgbClr val="C05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Authentication-Results: spf=fail; dkim=none; dmarc=fail
</a:t>
            </a:r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Received: from mail-pagos.ru ([185.0.2.10]) ...
</a:t>
            </a:r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Subject: URGENTE: tu usuario será bloqueado
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206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leen de abajo hacia arriba: el Received más bajo es el origen real. Tres chequeos rápidos: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6634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 ¿From, Reply-To y Return-Path coinciden?   2) ¿spf/dkim/dmarc = pass?   3) ¿El dominio es exactamente el oficial?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DIPLOMATURA EN CIBERSEGURIDAD · SEMANA 4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Dominios que "casi" son el oficial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21945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08760"/>
            <a:ext cx="2377440" cy="502920"/>
          </a:xfrm>
          <a:prstGeom prst="rect">
            <a:avLst/>
          </a:prstGeom>
          <a:solidFill>
            <a:srgbClr val="0F6E6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Técnica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017520" y="1508760"/>
            <a:ext cx="4206240" cy="502920"/>
          </a:xfrm>
          <a:prstGeom prst="rect">
            <a:avLst/>
          </a:prstGeom>
          <a:solidFill>
            <a:srgbClr val="0F6E6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108960" y="150876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223760" y="1508760"/>
            <a:ext cx="4297680" cy="502920"/>
          </a:xfrm>
          <a:prstGeom prst="rect">
            <a:avLst/>
          </a:prstGeom>
          <a:solidFill>
            <a:srgbClr val="0F6E6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0" y="150876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detecta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011680"/>
            <a:ext cx="2377440" cy="868680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01168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Typosquatting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017520" y="2011680"/>
            <a:ext cx="4206240" cy="868680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108960" y="201168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tiendan0va.com.ar (cero en vez de "o")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223760" y="2011680"/>
            <a:ext cx="4297680" cy="868680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0" y="2011680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Leer letra por letra; pegar en un editor de texto monoespaciado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2880360"/>
            <a:ext cx="2377440" cy="868680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288036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Homógrafo (Unicode)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017520" y="2880360"/>
            <a:ext cx="4206240" cy="868680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108960" y="288036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tiendanova.cо.ar ("о" cirílica)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223760" y="2880360"/>
            <a:ext cx="4297680" cy="868680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0" y="2880360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navegador muestra xn--...; revisar el punycode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3749040"/>
            <a:ext cx="2377440" cy="868680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374904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Subdominio engañoso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017520" y="3749040"/>
            <a:ext cx="4206240" cy="868680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108960" y="374904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tienda-nova.com.pagos-seguros.ru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223760" y="3749040"/>
            <a:ext cx="4297680" cy="868680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15200" y="3749040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dominio real es lo que está antes de la primera barra, de derecha a izquierda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4617720"/>
            <a:ext cx="2377440" cy="868680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31520" y="461772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Dominio gratuito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3017520" y="4617720"/>
            <a:ext cx="4206240" cy="868680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108960" y="461772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soporte.tiendanova@gmail.com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223760" y="4617720"/>
            <a:ext cx="4297680" cy="868680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315200" y="4617720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empresa no escribe desde un proveedor público de correo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DIPLOMATURA EN CIBERSEGURIDAD · SEMANA 4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383280"/>
            <a:ext cx="5943600" cy="5943600"/>
          </a:xfrm>
          <a:prstGeom prst="ellipse">
            <a:avLst/>
          </a:prstGeom>
          <a:solidFill>
            <a:srgbClr val="081A3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82880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0" b="1" dirty="0">
                <a:solidFill>
                  <a:srgbClr val="08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0" dirty="0"/>
          </a:p>
        </p:txBody>
      </p:sp>
      <p:sp>
        <p:nvSpPr>
          <p:cNvPr id="4" name="Shape 2"/>
          <p:cNvSpPr/>
          <p:nvPr/>
        </p:nvSpPr>
        <p:spPr>
          <a:xfrm>
            <a:off x="4480560" y="2788920"/>
            <a:ext cx="0" cy="1280160"/>
          </a:xfrm>
          <a:prstGeom prst="line">
            <a:avLst/>
          </a:prstGeom>
          <a:noFill/>
          <a:ln w="381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800600" y="265176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malicioso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800600" y="3657600"/>
            <a:ext cx="6766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3FA9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Ransomware, Spyware y RATs: lo que se descarga cuando se muerde el anzuelo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Malware: el paraguas, no un sinónimo de "virus"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21945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6304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081A33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508760"/>
            <a:ext cx="10332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MALWARE = software malicioso (término general). Virus, gusano, troyano, ransomware, spyware y RAT son tipos específicos. No todo el malware es un virus.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063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malware moderno no es solo algo que enlentece tu computadora: es una herramienta de negocios para criminales que buscan dinero, información o control.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931920"/>
            <a:ext cx="3505200" cy="2103120"/>
          </a:xfrm>
          <a:prstGeom prst="roundRect">
            <a:avLst>
              <a:gd name="adj" fmla="val 3478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26920" y="4160520"/>
            <a:ext cx="731520" cy="731520"/>
          </a:xfrm>
          <a:prstGeom prst="ellipse">
            <a:avLst/>
          </a:prstGeom>
          <a:solidFill>
            <a:srgbClr val="0F6E6E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026920" y="4160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4983480"/>
            <a:ext cx="3285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Ransomware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5440680"/>
            <a:ext cx="3230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secuestrador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28160" y="3931920"/>
            <a:ext cx="3505200" cy="2103120"/>
          </a:xfrm>
          <a:prstGeom prst="roundRect">
            <a:avLst>
              <a:gd name="adj" fmla="val 3478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715000" y="4160520"/>
            <a:ext cx="731520" cy="731520"/>
          </a:xfrm>
          <a:prstGeom prst="ellipse">
            <a:avLst/>
          </a:prstGeom>
          <a:solidFill>
            <a:srgbClr val="0F6E6E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715000" y="4160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🕵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437888" y="4983480"/>
            <a:ext cx="3285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Spyware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465320" y="5440680"/>
            <a:ext cx="3230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espía silencioso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16240" y="3931920"/>
            <a:ext cx="3505200" cy="2103120"/>
          </a:xfrm>
          <a:prstGeom prst="roundRect">
            <a:avLst>
              <a:gd name="adj" fmla="val 3478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403080" y="4160520"/>
            <a:ext cx="731520" cy="731520"/>
          </a:xfrm>
          <a:prstGeom prst="ellipse">
            <a:avLst/>
          </a:prstGeom>
          <a:solidFill>
            <a:srgbClr val="0F6E6E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9403080" y="4160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🎮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125968" y="4983480"/>
            <a:ext cx="3285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153400" y="5440680"/>
            <a:ext cx="3230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títere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DIPLOMATURA EN CIBERSEGURIDAD · SEMANA 4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Ransomware: el secuestrador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21945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1732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081A33"/>
          </a:solidFill>
          <a:ln w="12700">
            <a:solidFill>
              <a:srgbClr val="C0524B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508760"/>
            <a:ext cx="685800" cy="685800"/>
          </a:xfrm>
          <a:prstGeom prst="ellipse">
            <a:avLst/>
          </a:prstGeom>
          <a:solidFill>
            <a:srgbClr val="C0524B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15087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141732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417320"/>
            <a:ext cx="6400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Extorsión. Es la amenaza más visible.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42316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081A33"/>
          </a:solidFill>
          <a:ln w="12700">
            <a:solidFill>
              <a:srgbClr val="C0524B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2514600"/>
            <a:ext cx="685800" cy="685800"/>
          </a:xfrm>
          <a:prstGeom prst="ellipse">
            <a:avLst/>
          </a:prstGeom>
          <a:solidFill>
            <a:srgbClr val="C0524B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914400" y="25146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828800" y="242316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hace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2423160"/>
            <a:ext cx="6400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Cifra tus archivos para que no puedas abrirlos y deja una nota de rescate (usualmente en Bitcoin).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42900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081A33"/>
          </a:solidFill>
          <a:ln w="12700">
            <a:solidFill>
              <a:srgbClr val="C0524B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3520440"/>
            <a:ext cx="685800" cy="685800"/>
          </a:xfrm>
          <a:prstGeom prst="ellipse">
            <a:avLst/>
          </a:prstGeom>
          <a:solidFill>
            <a:srgbClr val="C0524B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14400" y="35204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828800" y="342900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Doble extorsión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937760" y="3429000"/>
            <a:ext cx="6400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Además de cifrar, roba los archivos y amenaza con publicarlos si no se paga.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43484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081A33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4526280"/>
            <a:ext cx="685800" cy="68580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14400" y="45262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828800" y="443484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Señales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4937760" y="4434840"/>
            <a:ext cx="6400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Extensiones extrañas en los archivos, nota de rescate en pantalla, archivos que no abren.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557784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081A33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914400" y="562356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 real (Nevada, 2025): un empleado descargó malware desde un sitio falso en mayo de 2024; el ataque salió a la luz en agosto de 2025 y dejó 28 días de interrupción en 60+ agencias estatales.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DIPLOMATURA EN CIBERSEGURIDAD · SEMANA 4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Spyware: el espía silencioso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21945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6304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081A33"/>
          </a:solidFill>
          <a:ln w="12700">
            <a:solidFill>
              <a:srgbClr val="0F6E6E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600200"/>
            <a:ext cx="685800" cy="685800"/>
          </a:xfrm>
          <a:prstGeom prst="ellipse">
            <a:avLst/>
          </a:prstGeom>
          <a:solidFill>
            <a:srgbClr val="0F6E6E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16002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1463040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463040"/>
            <a:ext cx="6400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no sepas que está ahí. Su éxito depende de la invisibilidad.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56032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081A33"/>
          </a:solidFill>
          <a:ln w="12700">
            <a:solidFill>
              <a:srgbClr val="0F6E6E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2697480"/>
            <a:ext cx="685800" cy="685800"/>
          </a:xfrm>
          <a:prstGeom prst="ellipse">
            <a:avLst/>
          </a:prstGeom>
          <a:solidFill>
            <a:srgbClr val="0F6E6E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914400" y="26974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⌨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828800" y="2560320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hace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2560320"/>
            <a:ext cx="6400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Keyloggers (registra lo que escribís), capturas de pantalla, roba contraseñas guardadas en el navegador y espía el historial.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65760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081A33"/>
          </a:solidFill>
          <a:ln w="12700">
            <a:solidFill>
              <a:srgbClr val="C0524B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3794760"/>
            <a:ext cx="685800" cy="685800"/>
          </a:xfrm>
          <a:prstGeom prst="ellipse">
            <a:avLst/>
          </a:prstGeom>
          <a:solidFill>
            <a:srgbClr val="C0524B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14400" y="37947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828800" y="3657600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Peligro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937760" y="3657600"/>
            <a:ext cx="6400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Puede vaciar cuentas o robar tu identidad sin que notes un solo error en tu PC.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75488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081A33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4892040"/>
            <a:ext cx="685800" cy="68580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14400" y="48920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828800" y="4754880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Señales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4937760" y="4754880"/>
            <a:ext cx="6400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Casi ninguna: procesos desconocidos, conexiones salientes inusuales, antivirus desactivado.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DIPLOMATURA EN CIBERSEGURIDAD · SEMANA 4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RAT: el títere (Troyano de Acceso Remoto)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21945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6304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081A33"/>
          </a:solidFill>
          <a:ln w="12700">
            <a:solidFill>
              <a:srgbClr val="C0524B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600200"/>
            <a:ext cx="685800" cy="685800"/>
          </a:xfrm>
          <a:prstGeom prst="ellipse">
            <a:avLst/>
          </a:prstGeom>
          <a:solidFill>
            <a:srgbClr val="C0524B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16002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🐴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1463040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es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463040"/>
            <a:ext cx="6400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Caballo de Troya que, una vez dentro, da control total de tu máquina a un atacante remoto.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56032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081A33"/>
          </a:solidFill>
          <a:ln w="12700">
            <a:solidFill>
              <a:srgbClr val="C0524B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2697480"/>
            <a:ext cx="685800" cy="685800"/>
          </a:xfrm>
          <a:prstGeom prst="ellipse">
            <a:avLst/>
          </a:prstGeom>
          <a:solidFill>
            <a:srgbClr val="C0524B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914400" y="26974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📹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828800" y="2560320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permite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2560320"/>
            <a:ext cx="6400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tu cámara, ver tu escritorio en tiempo real y ejecutar comandos como si estuviera frente al monitor.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65760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081A33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3794760"/>
            <a:ext cx="685800" cy="68580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14400" y="37947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🎭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828800" y="3657600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Disfraz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937760" y="3657600"/>
            <a:ext cx="6400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Suele venir oculto en software "gratuito", activadores de programas y juegos piratas.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75488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081A33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4892040"/>
            <a:ext cx="685800" cy="68580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14400" y="48920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828800" y="4754880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Señales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4937760" y="4754880"/>
            <a:ext cx="6400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Luz de la cámara que se enciende sola, ventilador al máximo sin motivo, tráfico saliente periódico.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DIPLOMATURA EN CIBERSEGURIDAD · SEMANA 4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tres gigantes, lado a lado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21945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08760"/>
            <a:ext cx="2011680" cy="502920"/>
          </a:xfrm>
          <a:prstGeom prst="rect">
            <a:avLst/>
          </a:prstGeom>
          <a:solidFill>
            <a:srgbClr val="0F6E6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651760" y="1508760"/>
            <a:ext cx="3017520" cy="502920"/>
          </a:xfrm>
          <a:prstGeom prst="rect">
            <a:avLst/>
          </a:prstGeom>
          <a:solidFill>
            <a:srgbClr val="0F6E6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743200" y="150876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Ransomware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0" y="1508760"/>
            <a:ext cx="2926080" cy="502920"/>
          </a:xfrm>
          <a:prstGeom prst="rect">
            <a:avLst/>
          </a:prstGeom>
          <a:solidFill>
            <a:srgbClr val="0F6E6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760720" y="15087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Spyware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595360" y="1508760"/>
            <a:ext cx="2926080" cy="502920"/>
          </a:xfrm>
          <a:prstGeom prst="rect">
            <a:avLst/>
          </a:prstGeom>
          <a:solidFill>
            <a:srgbClr val="0F6E6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0" y="15087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2011680"/>
            <a:ext cx="2011680" cy="749808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2011680"/>
            <a:ext cx="1828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651760" y="2011680"/>
            <a:ext cx="3017520" cy="749808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743200" y="2011680"/>
            <a:ext cx="2834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Extorsión económica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0" y="2011680"/>
            <a:ext cx="2926080" cy="749808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760720" y="2011680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 de información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595360" y="2011680"/>
            <a:ext cx="2926080" cy="749808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86800" y="2011680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remoto total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2761488"/>
            <a:ext cx="2011680" cy="749808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2761488"/>
            <a:ext cx="1828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¿Es visible?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651760" y="2761488"/>
            <a:ext cx="3017520" cy="749808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743200" y="2761488"/>
            <a:ext cx="2834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Sí, a propósito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0" y="2761488"/>
            <a:ext cx="2926080" cy="749808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760720" y="2761488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No, debe ser invisible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595360" y="2761488"/>
            <a:ext cx="2926080" cy="749808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686800" y="2761488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No, pero deja rastro de red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3511296"/>
            <a:ext cx="2011680" cy="749808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31520" y="3511296"/>
            <a:ext cx="1828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Daño típico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651760" y="3511296"/>
            <a:ext cx="3017520" cy="749808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743200" y="3511296"/>
            <a:ext cx="2834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Archivos cifrados y filtrados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669280" y="3511296"/>
            <a:ext cx="2926080" cy="749808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760720" y="3511296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Credenciales e identidad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595360" y="3511296"/>
            <a:ext cx="2926080" cy="749808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686800" y="3511296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lo que el atacante decida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0080" y="4261104"/>
            <a:ext cx="2011680" cy="749808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31520" y="4261104"/>
            <a:ext cx="1828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Triada CIA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2651760" y="4261104"/>
            <a:ext cx="3017520" cy="749808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2743200" y="4261104"/>
            <a:ext cx="2834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Disponibilidad (y Confidencialidad)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669280" y="4261104"/>
            <a:ext cx="2926080" cy="749808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760720" y="4261104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Confidencialidad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595360" y="4261104"/>
            <a:ext cx="2926080" cy="749808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686800" y="4261104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tres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0080" y="5010912"/>
            <a:ext cx="2011680" cy="749808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31520" y="5010912"/>
            <a:ext cx="1828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Defensa clave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2651760" y="5010912"/>
            <a:ext cx="3017520" cy="749808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2743200" y="5010912"/>
            <a:ext cx="2834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Backups 3-2-1 sin conexión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669280" y="5010912"/>
            <a:ext cx="2926080" cy="749808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760720" y="5010912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Gestor de contraseñas + MFA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595360" y="5010912"/>
            <a:ext cx="2926080" cy="749808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686800" y="5010912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instalar software pirata; EDR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DIPLOMATURA EN CIBERSEGURIDAD · SEMANA 4</a:t>
            </a:r>
            <a:endParaRPr lang="en-US" sz="900" dirty="0"/>
          </a:p>
        </p:txBody>
      </p:sp>
      <p:sp>
        <p:nvSpPr>
          <p:cNvPr id="53" name="Text 51"/>
          <p:cNvSpPr txBox="1"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383280"/>
            <a:ext cx="5943600" cy="5943600"/>
          </a:xfrm>
          <a:prstGeom prst="ellipse">
            <a:avLst/>
          </a:prstGeom>
          <a:solidFill>
            <a:srgbClr val="081A3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82880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0" b="1" dirty="0">
                <a:solidFill>
                  <a:srgbClr val="08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0" dirty="0"/>
          </a:p>
        </p:txBody>
      </p:sp>
      <p:sp>
        <p:nvSpPr>
          <p:cNvPr id="4" name="Shape 2"/>
          <p:cNvSpPr/>
          <p:nvPr/>
        </p:nvSpPr>
        <p:spPr>
          <a:xfrm>
            <a:off x="4480560" y="2788920"/>
            <a:ext cx="0" cy="1280160"/>
          </a:xfrm>
          <a:prstGeom prst="line">
            <a:avLst/>
          </a:prstGeom>
          <a:noFill/>
          <a:ln w="381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800600" y="265176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Malware en la red y herramientas de análisis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800600" y="3657600"/>
            <a:ext cx="6766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3FA9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extra: cómo se ve un RAT en Wireshark y con qué herramientas se investiga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&amp; Control y beaconing: cómo un RAT "llama a casa"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21945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63040"/>
            <a:ext cx="2596896" cy="2286000"/>
          </a:xfrm>
          <a:prstGeom prst="roundRect">
            <a:avLst>
              <a:gd name="adj" fmla="val 3200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18488" y="1645920"/>
            <a:ext cx="640080" cy="640080"/>
          </a:xfrm>
          <a:prstGeom prst="ellipse">
            <a:avLst/>
          </a:prstGeom>
          <a:solidFill>
            <a:srgbClr val="C0524B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618488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5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377440"/>
            <a:ext cx="2450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Equipo infectado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743200"/>
            <a:ext cx="241401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RAT arranca y busca a su servidor C2.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01568" y="1463040"/>
            <a:ext cx="2596896" cy="2286000"/>
          </a:xfrm>
          <a:prstGeom prst="roundRect">
            <a:avLst>
              <a:gd name="adj" fmla="val 3200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79976" y="1645920"/>
            <a:ext cx="640080" cy="640080"/>
          </a:xfrm>
          <a:prstGeom prst="ellipse">
            <a:avLst/>
          </a:prstGeom>
          <a:solidFill>
            <a:srgbClr val="C0524B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379976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5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📡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377440"/>
            <a:ext cx="2450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Beacon periódico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493008" y="2743200"/>
            <a:ext cx="241401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N segundos hace una petición corta ("¿hay órdenes?").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63056" y="1463040"/>
            <a:ext cx="2596896" cy="2286000"/>
          </a:xfrm>
          <a:prstGeom prst="roundRect">
            <a:avLst>
              <a:gd name="adj" fmla="val 3200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41464" y="1645920"/>
            <a:ext cx="640080" cy="64008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141464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5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🛰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236208" y="2377440"/>
            <a:ext cx="2450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Servidor C2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254496" y="2743200"/>
            <a:ext cx="241401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con comandos o con "nada nuevo".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924544" y="1463040"/>
            <a:ext cx="2596896" cy="2286000"/>
          </a:xfrm>
          <a:prstGeom prst="roundRect">
            <a:avLst>
              <a:gd name="adj" fmla="val 3200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902952" y="1645920"/>
            <a:ext cx="640080" cy="64008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902952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5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997696" y="2377440"/>
            <a:ext cx="2450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Ejecución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9015984" y="2743200"/>
            <a:ext cx="241401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equipo ejecuta y devuelve resultados (exfiltración).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3931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señal para el analista es la regularidad: peticiones a la misma IP/dominio con intervalos casi constantes.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0080" y="4526280"/>
            <a:ext cx="10881360" cy="1554480"/>
          </a:xfrm>
          <a:prstGeom prst="roundRect">
            <a:avLst>
              <a:gd name="adj" fmla="val 4706"/>
            </a:avLst>
          </a:prstGeom>
          <a:solidFill>
            <a:srgbClr val="1E2A38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914400" y="4617720"/>
            <a:ext cx="10332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tcpdump -i enp0s8 -nn port 8080 -w beacon.pcap
</a:t>
            </a:r>
            <a:pPr indent="0" marL="0">
              <a:buNone/>
            </a:pPr>
            <a:r>
              <a:rPr lang="en-US" sz="110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tshark -r beacon.pcap -Y http.request -T fields -e frame.time_relative -e ip.src -e http.request.uri
</a:t>
            </a:r>
            <a:pPr indent="0" marL="0">
              <a:buNone/>
            </a:pPr>
            <a:r>
              <a:rPr lang="en-US" sz="1100" dirty="0">
                <a:solidFill>
                  <a:srgbClr val="E4C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0.000  192.168.56.1  /beacon?id=PC01
</a:t>
            </a:r>
            <a:pPr indent="0" marL="0">
              <a:buNone/>
            </a:pPr>
            <a:r>
              <a:rPr lang="en-US" sz="1100" dirty="0">
                <a:solidFill>
                  <a:srgbClr val="E4C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5.012  192.168.56.1  /beacon?id=PC01    ← cada ~5 s
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DIPLOMATURA EN CIBERSEGURIDAD · SEMANA 4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Caja de herramientas del analista (phishing y malware)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21945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08760"/>
            <a:ext cx="2743200" cy="502920"/>
          </a:xfrm>
          <a:prstGeom prst="rect">
            <a:avLst/>
          </a:prstGeom>
          <a:solidFill>
            <a:srgbClr val="0F6E6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383280" y="1508760"/>
            <a:ext cx="4206240" cy="502920"/>
          </a:xfrm>
          <a:prstGeom prst="rect">
            <a:avLst/>
          </a:prstGeom>
          <a:solidFill>
            <a:srgbClr val="0F6E6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474720" y="150876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qué sirve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589520" y="1508760"/>
            <a:ext cx="3931920" cy="502920"/>
          </a:xfrm>
          <a:prstGeom prst="rect">
            <a:avLst/>
          </a:prstGeom>
          <a:solidFill>
            <a:srgbClr val="0F6E6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680960" y="15087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usa cuando...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011680"/>
            <a:ext cx="2743200" cy="713232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011680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VirusTotal / urlscan.io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383280" y="2011680"/>
            <a:ext cx="4206240" cy="713232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74720" y="2011680"/>
            <a:ext cx="4023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Reputación de archivos (hash), URLs y dominios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589520" y="2011680"/>
            <a:ext cx="3931920" cy="713232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680960" y="2011680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Tenés un adjunto o link sospechoso (sin abrirlo)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2724912"/>
            <a:ext cx="2743200" cy="713232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2724912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MXToolbox / dig / whois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383280" y="2724912"/>
            <a:ext cx="4206240" cy="713232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474720" y="2724912"/>
            <a:ext cx="4023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Consultar MX, SPF, DKIM, DMARC y antigüedad del dominio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589520" y="2724912"/>
            <a:ext cx="3931920" cy="713232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680960" y="2724912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Analizás un remitente sospechoso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" y="3438144"/>
            <a:ext cx="2743200" cy="713232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3438144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Any.run / Hybrid Analysis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383280" y="3438144"/>
            <a:ext cx="4206240" cy="713232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74720" y="3438144"/>
            <a:ext cx="4023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Sandbox: ejecuta la muestra en un entorno aislado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589520" y="3438144"/>
            <a:ext cx="3931920" cy="713232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680960" y="3438144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Querés ver qué hace un archivo sin infectarte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" y="4151376"/>
            <a:ext cx="2743200" cy="713232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31520" y="4151376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CyberChef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3383280" y="4151376"/>
            <a:ext cx="4206240" cy="713232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474720" y="4151376"/>
            <a:ext cx="4023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Decodificar Base64, hex, URL encoding, etc.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589520" y="4151376"/>
            <a:ext cx="3931920" cy="713232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680960" y="4151376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Hay texto ofuscado en un enlace o script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40080" y="4864608"/>
            <a:ext cx="2743200" cy="713232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31520" y="4864608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Wireshark / tshark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3383280" y="4864608"/>
            <a:ext cx="4206240" cy="713232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474720" y="4864608"/>
            <a:ext cx="4023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el tráfico real (beaconing, exfiltración)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589520" y="4864608"/>
            <a:ext cx="3931920" cy="713232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680960" y="4864608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Sospechás que un equipo "llama a casa"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40080" y="5577840"/>
            <a:ext cx="2743200" cy="713232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31520" y="5577840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Sysinternals / Defender / ClamAV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3383280" y="5577840"/>
            <a:ext cx="4206240" cy="713232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3474720" y="5577840"/>
            <a:ext cx="4023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Procesos, autoruns, conexiones; antivirus bajo demanda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589520" y="5577840"/>
            <a:ext cx="3931920" cy="713232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680960" y="5577840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Revisás un equipo sospechoso por dentro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DIPLOMATURA EN CIBERSEGURIDAD · SEMANA 4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dicen los datos (2025–2026)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21945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63040"/>
            <a:ext cx="2583180" cy="2468880"/>
          </a:xfrm>
          <a:prstGeom prst="roundRect">
            <a:avLst>
              <a:gd name="adj" fmla="val 2963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65910" y="1691640"/>
            <a:ext cx="731520" cy="731520"/>
          </a:xfrm>
          <a:prstGeom prst="ellipse">
            <a:avLst/>
          </a:prstGeom>
          <a:solidFill>
            <a:srgbClr val="C0524B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565910" y="1691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🧍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514600"/>
            <a:ext cx="23637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971800"/>
            <a:ext cx="23088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las brechas involucran el factor humano (Verizon DBIR 2026)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06140" y="1463040"/>
            <a:ext cx="2583180" cy="2468880"/>
          </a:xfrm>
          <a:prstGeom prst="roundRect">
            <a:avLst>
              <a:gd name="adj" fmla="val 2963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31970" y="1691640"/>
            <a:ext cx="731520" cy="731520"/>
          </a:xfrm>
          <a:prstGeom prst="ellipse">
            <a:avLst/>
          </a:prstGeom>
          <a:solidFill>
            <a:srgbClr val="C0524B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331970" y="1691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515868" y="2514600"/>
            <a:ext cx="23637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3543300" y="2971800"/>
            <a:ext cx="23088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las brechas incluyen ransomware, frente al 44% del año previo (DBIR 2026)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1463040"/>
            <a:ext cx="2583180" cy="2468880"/>
          </a:xfrm>
          <a:prstGeom prst="roundRect">
            <a:avLst>
              <a:gd name="adj" fmla="val 2963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098030" y="1691640"/>
            <a:ext cx="731520" cy="73152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098030" y="1691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5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281928" y="2514600"/>
            <a:ext cx="23637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+40%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2971800"/>
            <a:ext cx="23088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de engagement en phishing móvil que en el de correo (DBIR 2026)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938260" y="1463040"/>
            <a:ext cx="2583180" cy="2468880"/>
          </a:xfrm>
          <a:prstGeom prst="roundRect">
            <a:avLst>
              <a:gd name="adj" fmla="val 2963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864090" y="1691640"/>
            <a:ext cx="731520" cy="731520"/>
          </a:xfrm>
          <a:prstGeom prst="ellipse">
            <a:avLst/>
          </a:prstGeom>
          <a:solidFill>
            <a:srgbClr val="0F6E6E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864090" y="1691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🇦🇷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9047988" y="2514600"/>
            <a:ext cx="23637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9075420" y="2971800"/>
            <a:ext cx="23088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los 438 incidentes registrados por CERT.ar en 2024 fueron phishing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20624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081A33"/>
          </a:solidFill>
          <a:ln w="12700">
            <a:solidFill>
              <a:srgbClr val="C0524B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14400" y="4343400"/>
            <a:ext cx="685800" cy="685800"/>
          </a:xfrm>
          <a:prstGeom prst="ellipse">
            <a:avLst/>
          </a:prstGeom>
          <a:solidFill>
            <a:srgbClr val="C0524B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914400" y="43434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📞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1828800" y="4206240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Vishing a SSO (2026)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4937760" y="4206240"/>
            <a:ext cx="6400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Spectrum/Charter (mayo) y Abbott (julio): voz telefónica para comprometer una cuenta Microsoft Entra y llegar a Salesforce, ServiceNow y más.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" y="534924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081A33"/>
          </a:solidFill>
          <a:ln w="12700">
            <a:solidFill>
              <a:srgbClr val="8FA3B0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914400" y="539496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Fuentes: DBIR 2026 (vía Help Net Security), Bright Defense (2026) e Infobae (2026, datos de CERT.ar). Cifras de incidentes de 2026 según reportes públicos; algunas son alegaciones de los atacantes.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DIPLOMATURA EN CIBERSEGURIDAD · SEMANA 4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Errores frecuentes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21945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6304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081A33"/>
          </a:solidFill>
          <a:ln w="12700">
            <a:solidFill>
              <a:srgbClr val="C0524B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645920"/>
            <a:ext cx="685800" cy="685800"/>
          </a:xfrm>
          <a:prstGeom prst="ellipse">
            <a:avLst/>
          </a:prstGeom>
          <a:solidFill>
            <a:srgbClr val="C0524B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16459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1463040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"Tiene candado, es seguro"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463040"/>
            <a:ext cx="6400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 cifra la conexión, no garantiza que el dueño del sitio sea honesto. Un atacante puede comprar un certificado para su sitio falso.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65176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081A33"/>
          </a:solidFill>
          <a:ln w="12700">
            <a:solidFill>
              <a:srgbClr val="C0524B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2834640"/>
            <a:ext cx="685800" cy="685800"/>
          </a:xfrm>
          <a:prstGeom prst="ellipse">
            <a:avLst/>
          </a:prstGeom>
          <a:solidFill>
            <a:srgbClr val="C0524B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914400" y="28346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🖼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828800" y="2651760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"Tiene el logo, es real"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2651760"/>
            <a:ext cx="6400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Cualquiera puede descargar el logo de Netflix o Facebook. El diseño no prueba autenticidad.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84048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081A33"/>
          </a:solidFill>
          <a:ln w="12700">
            <a:solidFill>
              <a:srgbClr val="C0524B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023360"/>
            <a:ext cx="685800" cy="685800"/>
          </a:xfrm>
          <a:prstGeom prst="ellipse">
            <a:avLst/>
          </a:prstGeom>
          <a:solidFill>
            <a:srgbClr val="C0524B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14400" y="40233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828800" y="3840480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"Tengo antivirus"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937760" y="3840480"/>
            <a:ext cx="6400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antivirus es una red de seguridad: el phishing no explota software, explota decisiones.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525780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081A33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14400" y="53035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Matiz importante: los ataques AiTM (adversary-in-the-middle) pueden robar también el código MFA en tiempo real. El MFA sigue siendo el mejor escudo, pero no es infalible.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DIPLOMATURA EN CIBERSEGURIDAD · SEMANA 4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Defensa en capas: la última línea eres tú, pero no la única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21945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2583180" cy="3383280"/>
          </a:xfrm>
          <a:prstGeom prst="roundRect">
            <a:avLst>
              <a:gd name="adj" fmla="val 2832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65910" y="1783080"/>
            <a:ext cx="731520" cy="731520"/>
          </a:xfrm>
          <a:prstGeom prst="ellipse">
            <a:avLst/>
          </a:prstGeom>
          <a:solidFill>
            <a:srgbClr val="0F6E6E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56591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📞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606040"/>
            <a:ext cx="23637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Verificá por otro canal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063240"/>
            <a:ext cx="23088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Cerrá el correo, escribí la dirección oficial a mano o llamá. Nunca uses los contactos del mensaje sospechoso.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06140" y="1554480"/>
            <a:ext cx="2583180" cy="3383280"/>
          </a:xfrm>
          <a:prstGeom prst="roundRect">
            <a:avLst>
              <a:gd name="adj" fmla="val 2832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31970" y="1783080"/>
            <a:ext cx="731520" cy="731520"/>
          </a:xfrm>
          <a:prstGeom prst="ellipse">
            <a:avLst/>
          </a:prstGeom>
          <a:solidFill>
            <a:srgbClr val="0F6E6E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33197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515868" y="2606040"/>
            <a:ext cx="23637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MFA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543300" y="3063240"/>
            <a:ext cx="23088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roban la contraseña, aún necesitan el segundo factor. Preferí apps o llaves físicas antes que SMS.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72200" y="1554480"/>
            <a:ext cx="2583180" cy="3383280"/>
          </a:xfrm>
          <a:prstGeom prst="roundRect">
            <a:avLst>
              <a:gd name="adj" fmla="val 2832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098030" y="1783080"/>
            <a:ext cx="731520" cy="731520"/>
          </a:xfrm>
          <a:prstGeom prst="ellipse">
            <a:avLst/>
          </a:prstGeom>
          <a:solidFill>
            <a:srgbClr val="0F6E6E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09803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🗝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281928" y="2606040"/>
            <a:ext cx="23637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Gestor de contraseñas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3063240"/>
            <a:ext cx="23088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Bitwarden o KeePassXC solo completan la clave en el sitio real: si no la ofrece, es una alerta inmediata.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938260" y="1554480"/>
            <a:ext cx="2583180" cy="3383280"/>
          </a:xfrm>
          <a:prstGeom prst="roundRect">
            <a:avLst>
              <a:gd name="adj" fmla="val 2832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864090" y="1783080"/>
            <a:ext cx="731520" cy="731520"/>
          </a:xfrm>
          <a:prstGeom prst="ellipse">
            <a:avLst/>
          </a:prstGeom>
          <a:solidFill>
            <a:srgbClr val="0F6E6E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86409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💾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9047988" y="2606040"/>
            <a:ext cx="23637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Backups 3-2-1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075420" y="3063240"/>
            <a:ext cx="23088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copias, 2 medios, 1 fuera de línea. Es la mejor defensa contra el ransomware.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16636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081A33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914400" y="521208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"Un respiro profundo antes del clic." La duda es la mejor herramienta de defensa.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DIPLOMATURA EN CIBERSEGURIDAD · SEMANA 4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Ejercicio: clasificar incidentes de malware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21945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de respuesta a incidentes: los usuarios describen en sus palabras lo que ven. Completá la función para clasificar el reporte.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10881360" cy="2194560"/>
          </a:xfrm>
          <a:prstGeom prst="roundRect">
            <a:avLst>
              <a:gd name="adj" fmla="val 3333"/>
            </a:avLst>
          </a:prstGeom>
          <a:solidFill>
            <a:srgbClr val="1E2A38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2103120"/>
            <a:ext cx="103327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clasificar_malware(descripcion):
</a:t>
            </a:r>
            <a:pPr indent="0" marL="0">
              <a:buNone/>
            </a:pPr>
            <a:r>
              <a:rPr lang="en-US" sz="14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descripcion = descripcion.lower()
</a:t>
            </a:r>
            <a:pPr indent="0" marL="0">
              <a:buNone/>
            </a:pPr>
            <a:r>
              <a:rPr lang="en-US" sz="1400" dirty="0">
                <a:solidFill>
                  <a:srgbClr val="E4C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TODO: "encrypt"        -&gt; "Ransomware"
</a:t>
            </a:r>
            <a:pPr indent="0" marL="0">
              <a:buNone/>
            </a:pPr>
            <a:r>
              <a:rPr lang="en-US" sz="1400" dirty="0">
                <a:solidFill>
                  <a:srgbClr val="E4C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TODO: "monitor"        -&gt; "Spyware"
</a:t>
            </a:r>
            <a:pPr indent="0" marL="0">
              <a:buNone/>
            </a:pPr>
            <a:r>
              <a:rPr lang="en-US" sz="1400" dirty="0">
                <a:solidFill>
                  <a:srgbClr val="E4C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TODO: "remote control" -&gt; "RAT"
</a:t>
            </a:r>
            <a:pPr indent="0" marL="0">
              <a:buNone/>
            </a:pPr>
            <a:r>
              <a:rPr lang="en-US" sz="14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"Desconocido"
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448056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081A33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14400" y="452628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¡Cuidado con la trampa! Malware es el paraguas; virus, ransomware y spyware son tipos específicos. Y pensá: ¿qué pasa con "Mis archivos tienen una extensión extraña y aparece un mensaje pidiendo Bitcoin"?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DIPLOMATURA EN CIBERSEGURIDAD · SEMANA 4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Síntesis de la unidad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21945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6304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554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Phishing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938528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Ingeniería social que usa el engaño para robar credenciales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309360" y="146304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92240" y="1554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 del ataque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1938528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Reconocimiento → pretexto → entrega → gancho → robo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83464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2960" y="2926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Banderas rojas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310128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Urgencia, remitente, enlaces, saludo genérico, redacción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09360" y="283464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92240" y="2926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SPF · DKIM · DMARC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3310128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Validan quién envía y si el mensaje fue alterado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20624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22960" y="4297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Malware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681728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Paraguas: Ransomware (extorsiona), Spyware (espía), RAT (controla)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09360" y="420624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492240" y="4297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Defensa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4681728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Verificar por otro canal, MFA, gestor de contraseñas, backups 3-2-1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DIPLOMATURA EN CIBERSEGURIDAD · SEMANA 4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3840480"/>
            <a:ext cx="5029200" cy="5029200"/>
          </a:xfrm>
          <a:prstGeom prst="ellipse">
            <a:avLst/>
          </a:prstGeom>
          <a:solidFill>
            <a:srgbClr val="081A33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822960"/>
            <a:ext cx="960120" cy="96012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82296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5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🧪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116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50" kern="0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Manos a la obra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Autopsia de un correo y caza de un beacon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918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FA9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el laboratorio vas a analizar cabeceras desde una terminal Debian 13 sin interfaz gráfica y a cazar el tráfico periódico de un "RAT" simulado desde Windows 11.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297680"/>
            <a:ext cx="292608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48056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Puente: con el factor humano cubierto, el siguiente paso es proteger las credenciales — gestores de contraseñas y MFA.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Diplomatura en Ciberseguridad - Semana 4</dc:title>
  <dc:subject>PptxGenJS Presentation</dc:subject>
  <dc:creator>PptxGenJS</dc:creator>
  <cp:lastModifiedBy>PptxGenJS</cp:lastModifiedBy>
  <cp:revision>1</cp:revision>
  <dcterms:created xsi:type="dcterms:W3CDTF">2026-10-07T16:42:57Z</dcterms:created>
  <dcterms:modified xsi:type="dcterms:W3CDTF">2026-10-07T16:42:57Z</dcterms:modified>
</cp:coreProperties>
</file>
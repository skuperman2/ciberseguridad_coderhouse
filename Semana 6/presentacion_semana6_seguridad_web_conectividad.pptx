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274320"/>
            <a:ext cx="2926080" cy="292608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960120" cy="9601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6858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94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6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en la web y conectividad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Huella digital, navegación privada, HTTPS, VPN y Wi-Fi públicas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6 — Moverse por la red sin regalar datos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la clase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5623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41248" y="18562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huella digital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21284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IP, cookies, historial y fingerprinting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85623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10528" y="18562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incógnito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221284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borra, qué no y quién sigue viendo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41071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" y="34107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HTTP, HTTPS y TLS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7673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cifra el candado y qué no garantiza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341071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510528" y="341071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3291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376732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túnel, sus límites, fugas y cómo elegir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496519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41248" y="4965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públicas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874520" y="532180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Sniffing, MITM, red gemela y defensas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46634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0528" y="4965192"/>
            <a:ext cx="822960" cy="82296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510528" y="496519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54380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junto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543800" y="532180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Capas, mitos y tríada CIA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Caminar por la playa: cada paso deja una marca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2583180" cy="265176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591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56591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🛜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conexión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3088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dirección IP indica tu proveedor y tu ubicación aproximada.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6140" y="1554480"/>
            <a:ext cx="2583180" cy="265176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197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3197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🍪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1586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navegador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43300" y="3063240"/>
            <a:ext cx="23088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Cookies, historial y datos técnicos que se envían solos.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2583180" cy="265176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9803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9803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📶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aire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063240"/>
            <a:ext cx="23088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una Wi-Fi abierta compartís el medio con desconocidos.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38260" y="1554480"/>
            <a:ext cx="2583180" cy="265176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6409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6409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4798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cuenta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75420" y="3063240"/>
            <a:ext cx="23088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iniciás sesión, la plataforma sabe quién sos, uses lo que uses.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4805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5262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aprendemos qué herramienta borra qué marca: el modo incógnito limpia tu habitación; la VPN blinda la carretera; el candado cifra el sobre. Ninguna hace todo.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huella digital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rastro que dejás aunque no escribas nada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tipos de rastro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2583180" cy="301752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591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56591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IP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3088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tu conexión. Un sitio la ve siempre: sin IP no hay respuesta.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6140" y="1554480"/>
            <a:ext cx="2583180" cy="301752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197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3197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🕘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1586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43300" y="3063240"/>
            <a:ext cx="23088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lista de sitios visitados. Queda en tu equipo y, en parte, en tu proveedor.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2583180" cy="301752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9803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9803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🍪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063240"/>
            <a:ext cx="23088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que el sitio guarda para recordarte. Las de terceros te siguen entre sitios.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38260" y="1554480"/>
            <a:ext cx="2583180" cy="301752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6409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6409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🖐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4798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75420" y="3063240"/>
            <a:ext cx="23088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 datos técnicos del navegador hasta identificarte sin cookies.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tres primeras se pueden borrar. La cuarta no se guarda en tu equipo: la calcula el sitio cada vez que lo visitás.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Fingerprinting: tu navegador como huella dactilar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329184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que el navegador entrega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931920" y="1508760"/>
            <a:ext cx="33832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023360" y="1508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508760"/>
            <a:ext cx="420624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06640" y="15087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identifica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329184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1168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User-Agent y sistema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931920" y="2011680"/>
            <a:ext cx="338328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3360" y="201168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Firefox 131, Linux x86_64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0" y="2011680"/>
            <a:ext cx="420624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201168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Combinación de versión y plataforma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329184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67004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Idioma y zona horaria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31920" y="2670048"/>
            <a:ext cx="338328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23360" y="2670048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es-AR, UTC-3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0" y="2670048"/>
            <a:ext cx="420624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2670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el grupo de personas posibles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328416"/>
            <a:ext cx="329184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328416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y ventana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931920" y="3328416"/>
            <a:ext cx="338328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332841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1920×1080, ventana 1280×720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0" y="3328416"/>
            <a:ext cx="420624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06640" y="3328416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Pocas combinaciones iguales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986784"/>
            <a:ext cx="329184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3986784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y complementos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931920" y="3986784"/>
            <a:ext cx="338328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23360" y="398678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instalada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15200" y="3986784"/>
            <a:ext cx="420624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06640" y="398678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variable entre equipos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645152"/>
            <a:ext cx="329184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645152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Dibujo (canvas/WebGL)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931920" y="4645152"/>
            <a:ext cx="338328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23360" y="464515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de un gráfico oculto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315200" y="4645152"/>
            <a:ext cx="420624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06640" y="464515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tarjeta gráfica y los controladores lo alteran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dato por separado es común; la combinación es casi única. Por eso borrar cookies o usar incógnito no la elimina.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laboratorio lo vas a ver con curl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2560320"/>
          </a:xfrm>
          <a:prstGeom prst="roundRect">
            <a:avLst>
              <a:gd name="adj" fmla="val 2857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Primera visita: el sitio te asigna una cookie
</a:t>
            </a:r>
            <a:pPr indent="0" marL="0">
              <a:buNone/>
            </a:pPr>
            <a:r>
              <a:rPr lang="en-US" sz="13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-c frasco.txt http://tiendanova.test/huella
</a:t>
            </a:r>
            <a:pPr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Segunda visita con la cookie: te reconoce
</a:t>
            </a:r>
            <a:pPr indent="0" marL="0">
              <a:buNone/>
            </a:pPr>
            <a:r>
              <a:rPr lang="en-US" sz="13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-b frasco.txt http://tiendanova.test/huella
</a:t>
            </a:r>
            <a:pPr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Visita 'incógnito' (sin cookie): cookie nueva, MISMA huella
</a:t>
            </a:r>
            <a:pPr indent="0" marL="0">
              <a:buNone/>
            </a:pPr>
            <a:r>
              <a:rPr lang="en-US" sz="1300" dirty="0">
                <a:solidFill>
                  <a:srgbClr val="E4C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-s http://tiendanova.test/huella
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438912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4348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medido al preparar el laboratorio: sin cookie recibís un identificador nuevo, pero el hash calculado con tus encabezados es el mismo. Cambiando el User-Agent o el idioma, la huella cambia.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081A33"/>
          </a:solidFill>
          <a:ln w="12700">
            <a:solidFill>
              <a:srgbClr val="3FA9A4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 honesto: curl solo muestra encabezados. Los navegadores además exponen pantalla, fuentes y canvas mediante JavaScript.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modo incógnito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Limpiar tu propia casa, no desaparecer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hace y qué no hace la navegación privada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48940" y="1783080"/>
            <a:ext cx="731520" cy="73152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94894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5129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SÍ hace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5074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guarda historial ni autocompletado de la sesión y borra las cookies al cerrar la ventana. Es una función local.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8106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8106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281928" y="2606040"/>
            <a:ext cx="5129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hace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063240"/>
            <a:ext cx="50749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oculta tu actividad al proveedor, a tu empresa o escuela, ni tu IP a los sitios. No cifra nada extra.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800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comprar un regalo sorpresa desde el equipo familiar. Tu familia no verá el historial, pero tu proveedor y la tienda saben exactamente quién sos.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sigue viendo tu actividad en incógnito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81A33"/>
          </a:solidFill>
          <a:ln w="12700">
            <a:solidFill>
              <a:srgbClr val="0F6E6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23060"/>
            <a:ext cx="685800" cy="68580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6230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4630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empresa o escuela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4630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usás su red o su equipo, ven los destinos, y puede haber filtros, proxys o monitoreo.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81A33"/>
          </a:solidFill>
          <a:ln w="12700">
            <a:solidFill>
              <a:srgbClr val="0F6E6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766060"/>
            <a:ext cx="685800" cy="68580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27660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6060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proveedor de internet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6060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a qué dominios te conectás (y las consultas DNS, si no están cifradas).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909060"/>
            <a:ext cx="685800" cy="6858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39090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7490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sitio que visitás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7490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tu IP, tu huella y todo lo que hacés dentro de su página.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05206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50520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48920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cuenta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8920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iniciás sesión en Google o Facebook, saben quién sos aunque estés en incógnito.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real: cuando incógnito prometía más de lo que hacía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081A33"/>
          </a:solidFill>
          <a:ln w="12700">
            <a:solidFill>
              <a:srgbClr val="0F6E6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685800" cy="68580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50876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demanda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508760"/>
            <a:ext cx="6400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de EE. UU. denunciaron que Google seguía recopilando datos con analítica, cookies y aplicaciones durante la navegación privada. Alcanzaba a quienes la usaron desde junio de 2016.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91840"/>
            <a:ext cx="685800" cy="6858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291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97180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acuerdo (2024)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971800"/>
            <a:ext cx="6400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aceptó destruir miles de millones de registros de sesiones privadas, actualizar sus avisos y permitir bloquear cookies de terceros en incógnito durante cinco años. Negó irregularidades y no pagó daños.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10881360" cy="1325880"/>
          </a:xfrm>
          <a:prstGeom prst="roundRect">
            <a:avLst>
              <a:gd name="adj" fmla="val 5517"/>
            </a:avLst>
          </a:prstGeom>
          <a:solidFill>
            <a:srgbClr val="081A33"/>
          </a:solidFill>
          <a:ln w="12700">
            <a:solidFill>
              <a:srgbClr val="2E9E6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754880"/>
            <a:ext cx="685800" cy="68580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754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43484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4434840"/>
            <a:ext cx="6400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Incógnito protege contra quien comparte tu equipo. Contra el sitio, la plataforma y la red, no. El aviso del navegador lo dice: léelo.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HTTP, HTTPS y el candado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protege la conexión y qué no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es una postal; HTTPS es una caja cerrada con llave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274320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83280" y="1508760"/>
            <a:ext cx="38404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23760" y="1508760"/>
            <a:ext cx="42976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0" y="1508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(HTTP sobre TLS)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274320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11680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83280" y="2011680"/>
            <a:ext cx="384048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2011680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legible por cualquiera en el camino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2011680"/>
            <a:ext cx="429768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0" y="2011680"/>
            <a:ext cx="4114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Cifrado: solo lo leen tu equipo y el sitio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615184"/>
            <a:ext cx="2743200" cy="603504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615184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Contraseñas y formularios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83280" y="2615184"/>
            <a:ext cx="3840480" cy="603504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261518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Viajan en claro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23760" y="2615184"/>
            <a:ext cx="4297680" cy="603504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2615184"/>
            <a:ext cx="4114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Viajan cifrados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218688"/>
            <a:ext cx="274320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218688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383280" y="3218688"/>
            <a:ext cx="384048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3218688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puede modificar en el camino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223760" y="3218688"/>
            <a:ext cx="429768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0" y="3218688"/>
            <a:ext cx="4114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detecta si alguien lo altera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822192"/>
            <a:ext cx="2743200" cy="603504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3822192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del sitio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383280" y="3822192"/>
            <a:ext cx="3840480" cy="603504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74720" y="382219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23760" y="3822192"/>
            <a:ext cx="4297680" cy="603504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0" y="3822192"/>
            <a:ext cx="4114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certificado respalda el dominio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425696"/>
            <a:ext cx="274320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425696"/>
            <a:ext cx="2560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 habitual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383280" y="4425696"/>
            <a:ext cx="384048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74720" y="442569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223760" y="4425696"/>
            <a:ext cx="4297680" cy="603504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0" y="4425696"/>
            <a:ext cx="4114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14400" y="55321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laboratorio vas a capturar el mismo inicio de sesión por HTTP y por HTTPS, y a leer la clave solo en el primero.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arma la conexión cifrada (TLS 1.3, simplificado)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2044598" cy="283464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2339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342339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1460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ClientHello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186171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navegador propone cifrados e indica el nombre del sitio (SNI).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49270" y="1600200"/>
            <a:ext cx="2044598" cy="283464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51530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55153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22422" y="251460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Certificado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40710" y="2880360"/>
            <a:ext cx="186171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presenta su certificado, firmado por una autoridad (CA).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58461" y="1600200"/>
            <a:ext cx="2044598" cy="283464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76072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131613" y="251460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Verificación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149901" y="2880360"/>
            <a:ext cx="186171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equipo comprueba firma, dominio y vigencia con las CA en las que confía.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67651" y="1600200"/>
            <a:ext cx="2044598" cy="283464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69910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96991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40803" y="251460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Claves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359091" y="2880360"/>
            <a:ext cx="186171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derivan una clave de sesión sin enviarla por la red.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76842" y="1600200"/>
            <a:ext cx="2044598" cy="2834640"/>
          </a:xfrm>
          <a:prstGeom prst="roundRect">
            <a:avLst>
              <a:gd name="adj" fmla="val 35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79101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0179101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549994" y="2514600"/>
            <a:ext cx="18982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Datos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568282" y="2880360"/>
            <a:ext cx="1861718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demás viaja cifrado con esa clave.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75488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14400" y="48006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visible para el espía incluso en HTTPS: la IP de destino y el nombre del sitio (SNI), salvo que el sitio use ECH. El contenido, la ruta y los formularios, no.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prueba un certificado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505200" cy="2926080"/>
          </a:xfrm>
          <a:prstGeom prst="roundRect">
            <a:avLst>
              <a:gd name="adj" fmla="val 2500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269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230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certificado vale para uno o más nombres exactos (campo SAN). Si no coincide con la barra de direcciones, el navegador advierte.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05200" cy="2926080"/>
          </a:xfrm>
          <a:prstGeom prst="roundRect">
            <a:avLst>
              <a:gd name="adj" fmla="val 2500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🖋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788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Autoridad (CA)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65320" y="3063240"/>
            <a:ext cx="3230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entidad en la que tu sistema confía firmó el certificado tras verificar que el solicitante controla el dominio.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6240" y="1554480"/>
            <a:ext cx="3505200" cy="2926080"/>
          </a:xfrm>
          <a:prstGeom prst="roundRect">
            <a:avLst>
              <a:gd name="adj" fmla="val 2500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0308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030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Vigencia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53400" y="3063240"/>
            <a:ext cx="32308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fecha de inicio y de vencimiento. Fuera de ese rango, el navegador lo rechaza.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800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NO prueba: que el dueño del dominio sea honesto, ni que sea la empresa que imaginás. Solo que quien lo controla es quien habla con vos.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candado no garantiza honestidad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tiendanova.test          certificado válido  ✔   sitio legítimo
</a:t>
            </a:r>
            <a:pPr indent="0" marL="0">
              <a:buNone/>
            </a:pPr>
            <a:r>
              <a:rPr lang="en-US" sz="1400" dirty="0">
                <a:solidFill>
                  <a:srgbClr val="C05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tiendanova-login.test    certificado válido  ✔   sitio de PHISHING
</a:t>
            </a:r>
            <a:pPr indent="0" marL="0">
              <a:buNone/>
            </a:pPr>
            <a:r>
              <a:rPr lang="en-US" sz="1400" dirty="0">
                <a:solidFill>
                  <a:srgbClr val="E4C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autofirmado.test         ¡certificado inválido!   nadie lo avala
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48940" y="329184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4894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114800"/>
            <a:ext cx="5129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laboratorio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 de práctica emite un certificado perfectamente válido para el dominio parecido. curl lo acepta igual.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30632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81060" y="329184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81060" y="3291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81928" y="4114800"/>
            <a:ext cx="5129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mundo real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57200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Obtener un certificado gratuito para un dominio propio es automático y legal: los sitios de phishing usan HTTPS.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mirar además del candado: el dominio exacto, cómo llegaste al sitio y si te pide datos que no tendría por qué pedir.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Actualidad: la web se vuelve HTTPS por defecto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081A33"/>
          </a:solidFill>
          <a:ln w="12700">
            <a:solidFill>
              <a:srgbClr val="2E9E6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51660"/>
            <a:ext cx="685800" cy="68580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8516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5087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Adopción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5087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 el informe de transparencia de Google, ~97–99 % de las cargas de páginas públicas ya usan HTTPS (Linux ~97 %, Windows ~98 %, Android y Mac más de 99 %).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081A33"/>
          </a:solidFill>
          <a:ln w="12700">
            <a:solidFill>
              <a:srgbClr val="0F6E6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360420"/>
            <a:ext cx="685800" cy="68580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3604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01752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154 (oct. 2026)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0175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activa "Usar siempre conexiones seguras" por defecto para sitios públicos: avisa antes de cargar una página sin HTTPS. Antes, Chrome 147 (abril 2026) lo hizo para quienes usan Protección mejorada.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869180"/>
            <a:ext cx="685800" cy="6858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8691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🦊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5262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 navegadores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452628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Firefox ofrece el modo "Solo HTTPS" y desde la versión 136 pasa a probar HTTPS primero y avisar si falla.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primera visita? HSTS y la redirección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http://sitio  →  301 Location: https://sitio    (esa primera petición viaja EN CLARO)
</a:t>
            </a:r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Strict-Transport-Security: max-age=31536000; includeSubDomains
</a:t>
            </a:r>
            <a:pPr indent="0" marL="0"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el navegador recuerda: durante un año, ir SIEMPRE por HTTPS a este dominio
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48940" y="333756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4894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↪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160520"/>
            <a:ext cx="5129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Redirigir no alcanza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61772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atacante en la red puede interceptar el primer HTTP y quitar la "s" (SSL stripping).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31089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81060" y="333756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8106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81928" y="4160520"/>
            <a:ext cx="5129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HSTS lo corrige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61772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 la primera visita HTTPS, el navegador ya no intenta HTTP. La lista "preload" lo cubre desde la primera vez.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548640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laboratorio lo comprobás con curl --hsts: tras ver el encabezado, un pedido a http:// se convierte solo en https://.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 cada vez más cortos: automatizar o caerse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38404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80560" y="1508760"/>
            <a:ext cx="70408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508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Validez máxima de un certificado público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3840480" cy="73152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de marzo de 2026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2011680"/>
            <a:ext cx="7040880" cy="73152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0116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días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3840480" cy="73152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743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de marzo de 2027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80560" y="2743200"/>
            <a:ext cx="7040880" cy="73152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7432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días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840480" cy="73152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474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de marzo de 2029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80560" y="3474720"/>
            <a:ext cx="7040880" cy="73152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34747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días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46177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aprobado por el CA/Browser Forum en abril de 2025. Consecuencia práctica: renovar a mano deja de ser viable; se usan clientes automáticos (ACME, Certbot, Let's Encrypt). Un certificado vencido sigue siendo una causa clásica de caídas.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ve quien espía una conexión HTTPS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438912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0" y="1508760"/>
            <a:ext cx="146304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20640" y="15087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¿Lo ve?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92240" y="1508760"/>
            <a:ext cx="502920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15087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Comentario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438912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1168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Contenido, formularios, contraseñas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0" y="2011680"/>
            <a:ext cx="146304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201168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2011680"/>
            <a:ext cx="502920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201168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de extremo a extremo con el sitio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670048"/>
            <a:ext cx="438912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670048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y parámetros de la URL (/login?x=1)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0" y="2670048"/>
            <a:ext cx="146304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267004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2670048"/>
            <a:ext cx="502920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267004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dentro del cifrado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328416"/>
            <a:ext cx="438912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328416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IP de destino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0" y="3328416"/>
            <a:ext cx="146304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0" y="3328416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0" y="3328416"/>
            <a:ext cx="502920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332841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Hace falta para enrutar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986784"/>
            <a:ext cx="438912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3986784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del sitio (SNI)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0" y="3986784"/>
            <a:ext cx="146304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20640" y="3986784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92240" y="3986784"/>
            <a:ext cx="502920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0" y="3986784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en el ClientHello salvo con ECH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645152"/>
            <a:ext cx="438912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645152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DNS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0" y="4645152"/>
            <a:ext cx="146304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20640" y="464515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92240" y="4645152"/>
            <a:ext cx="502920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0" y="4645152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claro salvo DNS sobre HTTPS/TLS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5303520"/>
            <a:ext cx="438912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530352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Cuándo, cuánto y con qué frecuencia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029200" y="5303520"/>
            <a:ext cx="146304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120640" y="53035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92240" y="5303520"/>
            <a:ext cx="502920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583680" y="530352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metadatos de tráfico siguen disponibles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VPN: la red privada virtual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túnel cifrado y sus límites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túnel: cifrar, viajar, salir por otro lado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2596896" cy="265176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18488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Cifrado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24140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equipo mete cada paquete dentro de otro cifrado.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1600200"/>
            <a:ext cx="2596896" cy="265176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79976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🚇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Túnel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880360"/>
            <a:ext cx="24140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Viaja hasta el servidor VPN. Quien espía el camino ve solo datos cifrados.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600200"/>
            <a:ext cx="2596896" cy="265176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41464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41464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Descifrado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880360"/>
            <a:ext cx="24140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VPN abre el paquete y lo envía al destino.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24544" y="1600200"/>
            <a:ext cx="2596896" cy="265176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02952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902952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997696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Nueva IP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15984" y="2880360"/>
            <a:ext cx="24140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sitio ve la IP del servidor VPN, no la de tu casa.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laboratorio: sin VPN el sitio te ve como 203.0.113.2 (la cafetería); con VPN te ve como 203.0.113.10 (el servidor). Medido, no imaginado.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oculta una VPN y qué no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505200" cy="3108960"/>
          </a:xfrm>
          <a:prstGeom prst="roundRect">
            <a:avLst>
              <a:gd name="adj" fmla="val 2353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783080"/>
            <a:ext cx="731520" cy="73152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269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🙈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oculta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230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tráfico y el contenido ante la red local y tu proveedor. Tu IP real ante los sitios. Tu ubicación aproximada.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05200" cy="3108960"/>
          </a:xfrm>
          <a:prstGeom prst="roundRect">
            <a:avLst>
              <a:gd name="adj" fmla="val 2353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788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oculta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65320" y="3063240"/>
            <a:ext cx="3230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sos si iniciás sesión. Tu huella del navegador. Lo que hacés dentro de un sitio. El malware que ya tengas.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6240" y="1554480"/>
            <a:ext cx="3505200" cy="3108960"/>
          </a:xfrm>
          <a:prstGeom prst="roundRect">
            <a:avLst>
              <a:gd name="adj" fmla="val 2353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0308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030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de lugar la confianza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53400" y="3063240"/>
            <a:ext cx="3230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proveedor de internet deja de verte, pero el proveedor de VPN pasa a ver lo mismo. Es un acto de fe.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9834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VPN no te hace anónimo: te cambia de observador. Elegir mal el proveedor es entregar tu historial a otro.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Incógnito frente a VPN: lo que la tabla simple olvida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493776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577840" y="1508760"/>
            <a:ext cx="219456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Incógnito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0" y="1508760"/>
            <a:ext cx="374904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63840" y="15087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4937760" cy="56692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1168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¿Borra el historial de tu equipo?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77840" y="2011680"/>
            <a:ext cx="2194560" cy="56692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0" y="20116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2011680"/>
            <a:ext cx="3749040" cy="56692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0" y="201168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578608"/>
            <a:ext cx="493776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57860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¿Oculta tu actividad al proveedor de internet?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577840" y="2578608"/>
            <a:ext cx="219456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0" y="257860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2578608"/>
            <a:ext cx="374904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0" y="257860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(la ve el proveedor de VPN)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145536"/>
            <a:ext cx="4937760" cy="56692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14553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¿Oculta tu IP a los sitios?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577840" y="3145536"/>
            <a:ext cx="2194560" cy="56692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0" y="31455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3145536"/>
            <a:ext cx="3749040" cy="56692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0" y="314553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712464"/>
            <a:ext cx="493776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371246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¿Cifra el tráfico en redes abiertas?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577840" y="3712464"/>
            <a:ext cx="219456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0" y="37124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0" y="3712464"/>
            <a:ext cx="374904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63840" y="371246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4279392"/>
            <a:ext cx="4937760" cy="56692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27939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¿Frena el fingerprinting?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577840" y="4279392"/>
            <a:ext cx="2194560" cy="56692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0" y="427939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72400" y="4279392"/>
            <a:ext cx="3749040" cy="56692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63840" y="427939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4846320"/>
            <a:ext cx="493776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484632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¿Te protege si iniciás sesión en tu cuenta?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577840" y="4846320"/>
            <a:ext cx="219456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69280" y="484632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772400" y="4846320"/>
            <a:ext cx="3749040" cy="56692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863840" y="48463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914400" y="55778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Usarlos juntos es compatible, pero ninguno de los dos ataca la tercera capa: tu comportamiento.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de VPN: qué hay debajo del botón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237744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17520" y="1508760"/>
            <a:ext cx="265176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0896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 típico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0" y="1508760"/>
            <a:ext cx="585216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760720" y="150876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2377440" cy="91440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116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WireGuard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017520" y="2011680"/>
            <a:ext cx="2651760" cy="91440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08960" y="20116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 51820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2011680"/>
            <a:ext cx="5852160" cy="91440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0" y="201168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Moderno y pequeño (~4.000 líneas); claves públicas; en el kernel de Linux desde la 5.6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2377440" cy="91440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9260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OpenVPN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017520" y="2926080"/>
            <a:ext cx="2651760" cy="91440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8960" y="29260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UDP/TCP 1194 o 443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2926080"/>
            <a:ext cx="5852160" cy="91440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60720" y="292608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extendido, flexible, TLS; más pesado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2377440" cy="91440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8404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IPsec / IKEv2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017520" y="3840480"/>
            <a:ext cx="2651760" cy="91440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08960" y="38404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 500 y 4500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3840480"/>
            <a:ext cx="5852160" cy="91440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60720" y="384048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de sitio a sitio y móviles; integrado en sistemas operativos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14400" y="51206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protocolo que usarás en el laboratorio: un túnel WireGuard real entre dos equipos virtuales, con claves generadas por vos.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el túnel pierde: fugas y kill switch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2583180" cy="274320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591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56591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Fuga de DNS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3088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consultas de nombres salen por fuera del túnel y revelan los sitios.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6140" y="1554480"/>
            <a:ext cx="2583180" cy="274320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197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3197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6️⃣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1586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Fuga de IPv6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43300" y="3063240"/>
            <a:ext cx="23088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VPN solo cubre IPv4, el tráfico IPv6 sale sin proteger.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2583180" cy="274320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9803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9803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📹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063240"/>
            <a:ext cx="23088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navegador puede revelar tu IP real a una página.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38260" y="1554480"/>
            <a:ext cx="2583180" cy="274320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64090" y="1783080"/>
            <a:ext cx="731520" cy="73152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6409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4798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switch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75420" y="3063240"/>
            <a:ext cx="23088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túnel cae, bloquea todo el tráfico: sin conexión antes que con fuga.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617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Medido en el laboratorio: al borrar la interfaz del túnel sin protección, el sitio vio la IP real (203.0.113.2). Con el kill switch activo, el pedido falló por tiempo de espera.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real: TunnelVision (CVE-2024-3661)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 w="12700">
            <a:solidFill>
              <a:srgbClr val="0F6E6E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60220"/>
            <a:ext cx="685800" cy="68580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7602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5087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truco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50876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atacante en la misma red local ofrece una configuración DHCP con la opción 121 (rutas estáticas) que desvía tráfico fuera del túnel. La VPN aparenta estar activa.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086100"/>
            <a:ext cx="685800" cy="6858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0861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8346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quién afecta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8346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Windows, Linux, macOS e iOS. Android no, porque no soporta esa opción. Puntuación CVSS 7,6. Investigado por Leviathan Security (2024).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 w="12700">
            <a:solidFill>
              <a:srgbClr val="2E9E6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411980"/>
            <a:ext cx="685800" cy="68580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4119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1605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41605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firewall que bloqueen todo tráfico fuera del túnel (como un kill switch bien hecho), redes aisladas por namespace en Linux y DHCP snooping en redes propias.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53212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5778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Moraleja: "aparece el ícono de VPN" no equivale a "todo mi tráfico va por el túnel". Se comprueba.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un proveedor: si el producto es gratis, el producto sos vos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505200" cy="3200400"/>
          </a:xfrm>
          <a:prstGeom prst="roundRect">
            <a:avLst>
              <a:gd name="adj" fmla="val 2286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269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gratuitas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230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Suelen financiarse con tus datos de navegación o con publicidad. Justo lo que querías evitar.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05200" cy="3200400"/>
          </a:xfrm>
          <a:prstGeom prst="roundRect">
            <a:avLst>
              <a:gd name="adj" fmla="val 2286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788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no registros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65320" y="3063240"/>
            <a:ext cx="3230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una promesa. Valen más las auditorías independientes y el historial del proveedor ante pedidos judiciales.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6240" y="1554480"/>
            <a:ext cx="3505200" cy="3200400"/>
          </a:xfrm>
          <a:prstGeom prst="roundRect">
            <a:avLst>
              <a:gd name="adj" fmla="val 2286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0308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030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revisar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53400" y="3063240"/>
            <a:ext cx="3230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abiertos (WireGuard/OpenVPN), kill switch, protección de DNS y IPv6, jurisdicción y transparencia. Ejemplos del material: Proton VPN, Mullvad, NordVPN, Surfshark.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02920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Actualidad: tras la entrada en vigor de las verificaciones de edad de la Online Safety Act en el Reino Unido (25/7/2025), Proton VPN informó +1.400 % de altas. Un dato de demanda, no de seguridad.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VPN también es superficie de ataque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6022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7602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5087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DBIR 2025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50876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dispositivos de borde y las VPN fueron el 22 % de los objetivos de explotación de vulnerabilidades (3 % el año anterior). Solo el 54 % se corrigió por completo, con una mediana de 32 días.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08610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0861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🧨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28346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Ivanti Connect Secure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83464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CVE-2025-0282 (enero de 2025) fue explotada como día cero en concentradores VPN corporativos. Un equipo de borde sin parchear es una puerta abierta.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 w="12700">
            <a:solidFill>
              <a:srgbClr val="2E9E6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411980"/>
            <a:ext cx="685800" cy="68580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4119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1605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Lección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41605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VPN protege el camino, pero el servidor que la ofrece debe estar parcheado, con MFA y monitoreado.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53212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5778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vimos en las semanas anteriores: la mayoría de las intrusiones empieza con credenciales o con un equipo expuesto, no con un ataque criptográfico.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usar cada herramienta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38404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80560" y="1508760"/>
            <a:ext cx="70408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508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Recomendación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3840480" cy="82296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011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de cafetería, aeropuerto u hotel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2011680"/>
            <a:ext cx="7040880" cy="82296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0116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activa antes de abrir nada sensible, o usar datos móviles. HTTPS siempre.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3840480" cy="82296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834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 vuelos o reservar hoteles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80560" y="2834640"/>
            <a:ext cx="7040880" cy="82296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834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Incógnito para no arrastrar cookies; VPN si querés comparar sin atarte a tu ubicación.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3840480" cy="82296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657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Evitar un bloqueo geográfico o censura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80560" y="3657600"/>
            <a:ext cx="7040880" cy="82296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3657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VPN, sabiendo que el proveedor te ve y que pueden valer términos del servicio.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3840480" cy="82296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4805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sensible (salud, política)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80560" y="4480560"/>
            <a:ext cx="7040880" cy="82296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44805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Incógnito + VPN + sin iniciar sesión; considerá un navegador que resista el fingerprinting.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303520"/>
            <a:ext cx="3840480" cy="82296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3035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Computadora compartida en casa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480560" y="5303520"/>
            <a:ext cx="7040880" cy="82296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53035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Incógnito alcanza para no dejar historial local.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públicas: seguridad en el aire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 el medio con desconocidos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ataques típicos en una red abierta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692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202692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Sniffing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una herramienta como Wireshark o tcpdump se leen los paquetes que viajan sin cifrar por el aire.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816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71500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🕵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3788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Hombre en el medio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6532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atacante se hace pasar por el router y hace que todo pase por su equipo antes de salir a internet.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6240" y="1554480"/>
            <a:ext cx="3505200" cy="3017520"/>
          </a:xfrm>
          <a:prstGeom prst="roundRect">
            <a:avLst>
              <a:gd name="adj" fmla="val 242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03080" y="1783080"/>
            <a:ext cx="731520" cy="73152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40308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👯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5968" y="2606040"/>
            <a:ext cx="3285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gemela (evil twin)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53400" y="3063240"/>
            <a:ext cx="3230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punto de acceso falso con el mismo nombre que el legítimo, que suele pedir iniciar sesión en un portal falso.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la mayor parte del tráfico va por HTTPS, y eso reduce el sniffing. Pero no elimina la red gemela, los portales falsos ni los metadatos.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arma una red gemela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18488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Copia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atacante anuncia el mismo SSID que la cafetería, a menudo sin contraseña.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160020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79976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Desautenticación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88036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Envía tramas falsas que expulsan a los clientes de la red real.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60020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41464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41464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Reconexión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88036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dispositivos buscan el SSID conocido y se enganchan a la señal más fuerte.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24544" y="160020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02952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902952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🎣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997696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Portal falso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15984" y="288036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Aparece un inicio de sesión que pide correo o redes sociales.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7091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ve en una captura: dos puntos de acceso (BSSID distintos) con el mismo nombre y distinta seguridad, y una ráfaga de tramas de desautenticación.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reales de redes gemelas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081A33"/>
          </a:solidFill>
          <a:ln w="12700">
            <a:solidFill>
              <a:srgbClr val="C0524B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43100"/>
            <a:ext cx="685800" cy="685800"/>
          </a:xfrm>
          <a:prstGeom prst="ellipse">
            <a:avLst/>
          </a:prstGeom>
          <a:solidFill>
            <a:srgbClr val="C0524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9431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50876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(2024–2025)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50876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Clapsis usó un Wi-Fi Pineapple en aeropuertos de Perth, Melbourne y Adelaide y en vuelos domésticos. Un empleado de aerolínea detectó la red sospechosa. Se declaró culpable y fue condenado a 7 años y 4 meses.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634740"/>
            <a:ext cx="685800" cy="6858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6347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🛫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20040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DL591 (10/8/2026)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20040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Volviendo de DEF CON, la tripulación avisó de una red falsa "Delta WiFi Fast", apagó el Wi-Fi oficial unos 30 minutos y notificó al FBI. La técnica exacta y si hubo robo de datos no están confirmadas.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patrones: la gente se conecta a lo que parece oficial y gratuito, y el vector más eficaz sigue siendo el portal falso que pide credenciales.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del Wi-Fi: no todas las contraseñas protegen igual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310896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49040" y="1508760"/>
            <a:ext cx="347472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40480" y="1508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protege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23760" y="1508760"/>
            <a:ext cx="42976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0" y="1508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3108960" cy="82296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116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Abierta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49040" y="2011680"/>
            <a:ext cx="3474720" cy="82296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20116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23760" y="2011680"/>
            <a:ext cx="4297680" cy="82296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0" y="20116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el aire es legible para quien escuche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3108960" cy="82296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8346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WPA2-Personal (clave compartida)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749040" y="2834640"/>
            <a:ext cx="3474720" cy="82296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40480" y="2834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Cifra, con una clave por sesión derivada de la contraseña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2834640"/>
            <a:ext cx="4297680" cy="82296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0" y="28346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conoce la clave y captura tu apretón de manos puede descifrar tu tráfico. Una clave impresa en el ticket la conoce todo el local.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657600"/>
            <a:ext cx="3108960" cy="82296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657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WPA3-Personal (SAE)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749040" y="3657600"/>
            <a:ext cx="3474720" cy="82296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40480" y="36576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 con negociación resistente a diccionarios offline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23760" y="3657600"/>
            <a:ext cx="4297680" cy="82296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0" y="36576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sesión tiene claves independientes: conocer la clave no revela el tráfico pasado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480560"/>
            <a:ext cx="3108960" cy="82296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4805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OWE (Enhanced Open)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749040" y="4480560"/>
            <a:ext cx="3474720" cy="82296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40480" y="44805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 redes abiertas sin contraseña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4480560"/>
            <a:ext cx="4297680" cy="82296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0" y="44805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del espía pasivo, no de una red gemela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4864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14400" y="55321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Corrección del mito: "si tiene contraseña, es segura" no vale cuando todos los clientes la conocen. Ni WPA2 ni WPA3 prueban que el punto de acceso sea el legítimo.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oro para una Wi-Fi pública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2583180" cy="301752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6591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56591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Verificá la red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23088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Preguntá el nombre exacto al local. Desconfiá de dos redes con el mismo nombre o de una abierta que antes era protegida.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6140" y="1554480"/>
            <a:ext cx="2583180" cy="301752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1970" y="1783080"/>
            <a:ext cx="731520" cy="7315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3197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1586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Cifrá lo tuyo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43300" y="3063240"/>
            <a:ext cx="23088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Activá la VPN antes de abrir correo o banco, o usá tus datos móviles. Solo sitios HTTPS.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2583180" cy="301752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98030" y="1783080"/>
            <a:ext cx="731520" cy="731520"/>
          </a:xfrm>
          <a:prstGeom prst="ellipse">
            <a:avLst/>
          </a:prstGeom>
          <a:solidFill>
            <a:srgbClr val="0F6E6E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09803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Cerrá la puerta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063240"/>
            <a:ext cx="23088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Desactivá la conexión automática y la compartición de archivos; olvidá la red al irte.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38260" y="1554480"/>
            <a:ext cx="2583180" cy="3017520"/>
          </a:xfrm>
          <a:prstGeom prst="roundRect">
            <a:avLst>
              <a:gd name="adj" fmla="val 2832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64090" y="1783080"/>
            <a:ext cx="731520" cy="731520"/>
          </a:xfrm>
          <a:prstGeom prst="ellipse">
            <a:avLst/>
          </a:prstGeom>
          <a:solidFill>
            <a:srgbClr val="2E9E6B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864090" y="1783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47988" y="2606040"/>
            <a:ext cx="23637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factor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075420" y="3063240"/>
            <a:ext cx="23088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MFA o passkeys, una clave robada no abre tu cuenta (Semana 5).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entregable pide escribir tus tres reglas: elegí las que realmente vas a cumplir, no las más largas.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mira desde la consola (sin interfaz gráfica)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10881360" cy="3383280"/>
          </a:xfrm>
          <a:prstGeom prst="roundRect">
            <a:avLst>
              <a:gd name="adj" fmla="val 2162"/>
            </a:avLst>
          </a:prstGeom>
          <a:solidFill>
            <a:srgbClr val="1E2A38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A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Capturar en la 'cafetería' y leer qué viaja
</a:t>
            </a:r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ip netns exec cafe tcpdump -i c0 -w captura.pcap
</a:t>
            </a:r>
            <a:pPr indent="0" marL="0"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red/analizar_trafico.py captura.pcap
</a:t>
            </a:r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tshark -r captura.pcap -Y "http.request.method==POST"
</a:t>
            </a:r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1250" dirty="0">
                <a:solidFill>
                  <a:srgbClr val="8FA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Detectar red gemela y desautenticación en una captura Wi-Fi
</a:t>
            </a:r>
            <a:pPr indent="0" marL="0">
              <a:buNone/>
            </a:pPr>
            <a:r>
              <a:rPr lang="en-US" sz="12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wifi/analizar_wifi.py cafe_wifi.pcap
</a:t>
            </a:r>
            <a:pPr indent="0" marL="0">
              <a:buNone/>
            </a:pPr>
            <a:r>
              <a:rPr lang="en-US" sz="125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tshark -r cafe_wifi.pcap -Y "wlan.fc.type_subtype==12"   # deauth
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50749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captura Wi-Fi es fabricada con Scapy (una VM no tiene adaptador inalámbrico): sirve para practicar el análisis, no reemplaza una auditoría real.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943600" cy="59436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08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480560" y="2788920"/>
            <a:ext cx="0" cy="128016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0060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junto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36576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Capas, mitos y la tríada CIA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escudo de privacidad: capas, no un botón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18488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18488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local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Incógnito: evita que otros usuarios de tu equipo vean tu actividad.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160020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379976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transporte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88036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HTTPS/TLS: cifra la conexión con el sitio. Navegador con HTTPS por defecto.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60020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41464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41464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🚇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red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88036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o datos móviles en redes ajenas. Kill switch y DNS protegidos.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24544" y="1600200"/>
            <a:ext cx="2596896" cy="2743200"/>
          </a:xfrm>
          <a:prstGeom prst="roundRect">
            <a:avLst>
              <a:gd name="adj" fmla="val 2817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02952" y="1783080"/>
            <a:ext cx="640080" cy="64008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902952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997696" y="251460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comportamiento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15984" y="2880360"/>
            <a:ext cx="24140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Cuenta, MFA/passkeys, criterio ante sitios falsos y redes dudosas.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incógnito limpia tu habitación; la VPN blinda la carretera; el candado cierra el sobre; y tu criterio decide a dónde viajás.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Confidencialidad, integridad y disponibilidad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256032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0" y="1508760"/>
            <a:ext cx="356616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91840" y="1508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protege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66560" y="1508760"/>
            <a:ext cx="475488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0" y="1508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de esta unidad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256032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0116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Confidencialidad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356616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20116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nadie lea lo tuyo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66560" y="2011680"/>
            <a:ext cx="475488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20116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TLS, VPN, WPA3, cifrado de la sesión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2560320" cy="100584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0175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0" y="3017520"/>
            <a:ext cx="3566160" cy="100584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3017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nadie lo cambie en el camino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66560" y="3017520"/>
            <a:ext cx="4754880" cy="1005840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30175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(detecta alteraciones), HSTS contra el degradado a HTTP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256032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0233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0" y="4023360"/>
            <a:ext cx="356616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91840" y="40233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el servicio siga funcionando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766560" y="4023360"/>
            <a:ext cx="4754880" cy="1005840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0" y="40233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Certificados renovados a tiempo, kill switch, redundancia de red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0292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081A33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14400" y="50749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disponibilidad también cuenta: una red gemela con desautenticación es, en parte, un ataque a la disponibilidad.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Mitos frecuentes y su corrección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457200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212080" y="1508760"/>
            <a:ext cx="6309360" cy="502920"/>
          </a:xfrm>
          <a:prstGeom prst="rect">
            <a:avLst/>
          </a:prstGeom>
          <a:solidFill>
            <a:srgbClr val="0F6E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303520" y="150876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Realidad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457200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01168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 incógnito soy invisible"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212080" y="2011680"/>
            <a:ext cx="630936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2011680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Proveedor, empresa y sitios te siguen viendo.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70048"/>
            <a:ext cx="457200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670048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 VPN soy 100 % anónimo"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212080" y="2670048"/>
            <a:ext cx="630936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2670048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iniciás sesión o tu navegador es único, te identifican igual.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457200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328416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"El candado verde = sitio seguro"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212080" y="3328416"/>
            <a:ext cx="630936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3328416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 conexión cifrada, no sitio honesto.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986784"/>
            <a:ext cx="457200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986784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 la Wi-Fi tiene clave, es segura"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212080" y="3986784"/>
            <a:ext cx="630936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03520" y="3986784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todos la conocen, no protege a unos de otros.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645152"/>
            <a:ext cx="457200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645152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"Solo me hackean si descargo algo"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212080" y="4645152"/>
            <a:ext cx="6309360" cy="658368"/>
          </a:xfrm>
          <a:prstGeom prst="rect">
            <a:avLst/>
          </a:prstGeom>
          <a:solidFill>
            <a:srgbClr val="081A33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0" y="4645152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solo navegar o conectarte a una red falsa podés exponer sesiones y credenciales.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303520"/>
            <a:ext cx="457200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530352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"Una VPN gratis es igual de buena"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212080" y="5303520"/>
            <a:ext cx="6309360" cy="658368"/>
          </a:xfrm>
          <a:prstGeom prst="rect">
            <a:avLst/>
          </a:prstGeom>
          <a:solidFill>
            <a:srgbClr val="0B2545"/>
          </a:solidFill>
          <a:ln w="6350">
            <a:solidFill>
              <a:srgbClr val="0510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03520" y="5303520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frecuencia vive de vender tus datos de navegación.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Síntesis de la unidad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15568"/>
            <a:ext cx="219456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Huella digital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385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IP, cookies, historial y fingerprinting. Las tres primeras se borran; la huella se recalcula.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Incógnito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9385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local. No oculta nada al proveedor, a la empresa ni al sitio.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TLS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3101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 y autentica el dominio. No garantiza honestidad. HSTS y HTTPS por defecto.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8346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3101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Túnel cifrado y nueva IP. Cambia de observador. Kill switch y proveedor confiable.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pública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6817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Sniffing, hombre en el medio, red gemela. Verificar red, VPN/datos móviles, MFA.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4206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81A33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9224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68172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Local, transporte, red y comportamiento. Ninguna herramienta sola alcanza.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DIPLOMATURA EN CIBERSEGURIDAD · SEMANA 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177272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5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081A3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960120" cy="96012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127000" dist="508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51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E4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Manos a la obra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de la Wi-Fi de la cafetería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FA9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laboratorio vas a medir tu huella, capturar un inicio de sesión por HTTP y por HTTPS, inspeccionar certificados, levantar una VPN WireGuard real, probar un kill switch y analizar una red gemela, todo desde una terminal Debian 13 sin interfaz gráfica. Y publicar tu informe en GitHub.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66344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846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Entregable: repositorio público practica-wifi-segura con README.md (evidencia, riesgos, VPN y 3 reglas de oro).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Diplomatura en Ciberseguridad - Semana 6</dc:title>
  <dc:subject>PptxGenJS Presentation</dc:subject>
  <dc:creator>PptxGenJS</dc:creator>
  <cp:lastModifiedBy>PptxGenJS</cp:lastModifiedBy>
  <cp:revision>1</cp:revision>
  <dcterms:created xsi:type="dcterms:W3CDTF">2026-10-26T20:49:47Z</dcterms:created>
  <dcterms:modified xsi:type="dcterms:W3CDTF">2026-10-26T20:49:47Z</dcterms:modified>
</cp:coreProperties>
</file>